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9" r:id="rId16"/>
    <p:sldId id="270" r:id="rId17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0" Type="http://schemas.openxmlformats.org/officeDocument/2006/relationships/notesSlide" Target="../notesSlides/notesSlide3.xml"/><Relationship Id="rId2" Type="http://schemas.openxmlformats.org/officeDocument/2006/relationships/tags" Target="../tags/tag2.xml"/><Relationship Id="rId19" Type="http://schemas.openxmlformats.org/officeDocument/2006/relationships/slideLayout" Target="../slideLayouts/slideLayout1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514350" y="247650"/>
            <a:ext cx="4762500" cy="26670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defRPr sz="1125" b="1">
                <a:solidFill>
                  <a:srgbClr val="F4C9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F4C9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答辩汇报</a:t>
            </a:r>
            <a:endParaRPr sz="1125" b="1">
              <a:solidFill>
                <a:srgbClr val="F4C95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76250" y="533400"/>
            <a:ext cx="10668000" cy="59055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defRPr sz="2400" b="1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移动端 Roguelite 回合制游戏的设计与实现</a:t>
            </a:r>
            <a:endParaRPr sz="2400" b="1">
              <a:solidFill>
                <a:srgbClr val="F6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476250" y="1162050"/>
            <a:ext cx="11239500" cy="17145"/>
          </a:xfrm>
          <a:prstGeom prst="rect">
            <a:avLst/>
          </a:prstGeom>
          <a:solidFill>
            <a:srgbClr val="34445F"/>
          </a:solidFill>
          <a:ln w="0">
            <a:solidFill>
              <a:srgbClr val="34445F"/>
            </a:solidFill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476250" y="6429375"/>
            <a:ext cx="7239000" cy="20955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 fontScale="89744"/>
          </a:bodyPr>
          <a:lstStyle/>
          <a:p>
            <a:pPr algn="l">
              <a:defRPr sz="975" b="0">
                <a:solidFill>
                  <a:srgbClr val="7F8AA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7F8AA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Mobile Roguelite Turn-Based Game · Unity / Tuanjie 2022.3</a:t>
            </a:r>
            <a:endParaRPr sz="975" b="0">
              <a:solidFill>
                <a:srgbClr val="7F8AA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144250" y="6362700"/>
            <a:ext cx="571500" cy="26670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/>
          </a:bodyPr>
          <a:lstStyle/>
          <a:p>
            <a:pPr algn="r">
              <a:defRPr sz="1200" b="1">
                <a:solidFill>
                  <a:srgbClr val="F4C9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4C9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1200" b="1">
              <a:solidFill>
                <a:srgbClr val="F4C95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6572250" y="1123950"/>
            <a:ext cx="4191000" cy="4095750"/>
          </a:xfrm>
          <a:prstGeom prst="roundRect">
            <a:avLst>
              <a:gd name="adj" fmla="val 2326"/>
            </a:avLst>
          </a:prstGeom>
          <a:solidFill>
            <a:srgbClr val="151E2D"/>
          </a:solidFill>
          <a:ln w="11430">
            <a:solidFill>
              <a:srgbClr val="34445F"/>
            </a:solidFill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6953250" y="3714750"/>
            <a:ext cx="3333750" cy="381000"/>
          </a:xfrm>
          <a:prstGeom prst="rect">
            <a:avLst/>
          </a:prstGeom>
          <a:solidFill>
            <a:srgbClr val="151E2D"/>
          </a:solidFill>
          <a:ln w="0">
            <a:solidFill>
              <a:srgbClr val="151E2D"/>
            </a:solidFill>
          </a:ln>
        </p:spPr>
        <p:txBody>
          <a:bodyPr wrap="square" lIns="57150" tIns="38100" rIns="57150" bIns="38100" anchor="t">
            <a:normAutofit fontScale="95719"/>
          </a:bodyPr>
          <a:lstStyle/>
          <a:p>
            <a:pPr algn="l">
              <a:defRPr sz="1800" b="1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探索地图 + 回合战斗 + 遗物构筑</a:t>
            </a:r>
            <a:endParaRPr sz="1800" b="1">
              <a:solidFill>
                <a:srgbClr val="F6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953250" y="4171950"/>
            <a:ext cx="3333750" cy="819150"/>
          </a:xfrm>
          <a:prstGeom prst="rect">
            <a:avLst/>
          </a:prstGeom>
          <a:solidFill>
            <a:srgbClr val="151E2D"/>
          </a:solidFill>
          <a:ln w="0">
            <a:solidFill>
              <a:srgbClr val="151E2D"/>
            </a:solidFill>
          </a:ln>
        </p:spPr>
        <p:txBody>
          <a:bodyPr wrap="square" lIns="95250" tIns="76200" rIns="95250" bIns="76200" anchor="t">
            <a:normAutofit/>
          </a:bodyPr>
          <a:lstStyle/>
          <a:p>
            <a:pPr algn="l">
              <a:defRPr sz="1350" b="0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Unity / Tuanjie 2022.3.62t6</a:t>
            </a:r>
            <a:endParaRPr sz="1350" b="0">
              <a:solidFill>
                <a:srgbClr val="F6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350" b="0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数据驱动内容扩展</a:t>
            </a:r>
            <a:endParaRPr sz="1350" b="0">
              <a:solidFill>
                <a:srgbClr val="F6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350" b="0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面向移动端的轻量回合体验</a:t>
            </a:r>
            <a:endParaRPr sz="1350" b="0">
              <a:solidFill>
                <a:srgbClr val="F6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666750" y="1828800"/>
            <a:ext cx="1714500" cy="1066800"/>
          </a:xfrm>
          <a:prstGeom prst="roundRect">
            <a:avLst>
              <a:gd name="adj" fmla="val 7143"/>
            </a:avLst>
          </a:prstGeom>
          <a:solidFill>
            <a:srgbClr val="182133"/>
          </a:solidFill>
          <a:ln w="11430">
            <a:solidFill>
              <a:srgbClr val="34445F"/>
            </a:solidFill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819150" y="2000250"/>
            <a:ext cx="1409700" cy="38100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 fontScale="88889"/>
          </a:bodyPr>
          <a:lstStyle/>
          <a:p>
            <a:pPr algn="l">
              <a:defRPr sz="2250" b="1">
                <a:solidFill>
                  <a:srgbClr val="F4C9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F4C9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111</a:t>
            </a:r>
            <a:endParaRPr sz="2250" b="1">
              <a:solidFill>
                <a:srgbClr val="F4C95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819150" y="2495550"/>
            <a:ext cx="1409700" cy="28575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defRPr sz="1125" b="0">
                <a:solidFill>
                  <a:srgbClr val="AEB8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AEB8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遗物数据资产</a:t>
            </a:r>
            <a:endParaRPr sz="1125" b="0">
              <a:solidFill>
                <a:srgbClr val="AEB8C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2619375" y="1828800"/>
            <a:ext cx="1714500" cy="1066800"/>
          </a:xfrm>
          <a:prstGeom prst="roundRect">
            <a:avLst>
              <a:gd name="adj" fmla="val 7143"/>
            </a:avLst>
          </a:prstGeom>
          <a:solidFill>
            <a:srgbClr val="182133"/>
          </a:solidFill>
          <a:ln w="11430">
            <a:solidFill>
              <a:srgbClr val="34445F"/>
            </a:solidFill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2771775" y="2000250"/>
            <a:ext cx="1409700" cy="38100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 fontScale="88889"/>
          </a:bodyPr>
          <a:lstStyle/>
          <a:p>
            <a:pPr algn="l">
              <a:defRPr sz="2250" b="1">
                <a:solidFill>
                  <a:srgbClr val="58D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58D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37</a:t>
            </a:r>
            <a:endParaRPr sz="2250" b="1">
              <a:solidFill>
                <a:srgbClr val="58D7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2771775" y="2495550"/>
            <a:ext cx="1409700" cy="28575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defRPr sz="1125" b="0">
                <a:solidFill>
                  <a:srgbClr val="AEB8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AEB8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主要敌人目录</a:t>
            </a:r>
            <a:endParaRPr sz="1125" b="0">
              <a:solidFill>
                <a:srgbClr val="AEB8C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圆角矩形 25"/>
          <p:cNvSpPr>
            <a:spLocks noGrp="1"/>
          </p:cNvSpPr>
          <p:nvPr/>
        </p:nvSpPr>
        <p:spPr>
          <a:xfrm>
            <a:off x="4572000" y="1828800"/>
            <a:ext cx="1714500" cy="1066800"/>
          </a:xfrm>
          <a:prstGeom prst="roundRect">
            <a:avLst>
              <a:gd name="adj" fmla="val 7143"/>
            </a:avLst>
          </a:prstGeom>
          <a:solidFill>
            <a:srgbClr val="182133"/>
          </a:solidFill>
          <a:ln w="11430">
            <a:solidFill>
              <a:srgbClr val="34445F"/>
            </a:solidFill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4724400" y="2000250"/>
            <a:ext cx="1409700" cy="38100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 fontScale="88889"/>
          </a:bodyPr>
          <a:lstStyle/>
          <a:p>
            <a:pPr algn="l">
              <a:defRPr sz="2250" b="1">
                <a:solidFill>
                  <a:srgbClr val="74D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74D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194</a:t>
            </a:r>
            <a:endParaRPr sz="2250" b="1">
              <a:solidFill>
                <a:srgbClr val="74D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4724400" y="2495550"/>
            <a:ext cx="1409700" cy="28575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defRPr sz="1125" b="0">
                <a:solidFill>
                  <a:srgbClr val="AEB8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AEB8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EditMode 测试脚本</a:t>
            </a:r>
            <a:endParaRPr sz="1125" b="0">
              <a:solidFill>
                <a:srgbClr val="AEB8C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圆角矩形 28"/>
          <p:cNvSpPr>
            <a:spLocks noGrp="1"/>
          </p:cNvSpPr>
          <p:nvPr/>
        </p:nvSpPr>
        <p:spPr>
          <a:xfrm>
            <a:off x="742950" y="3429000"/>
            <a:ext cx="1238250" cy="323850"/>
          </a:xfrm>
          <a:prstGeom prst="roundRect">
            <a:avLst>
              <a:gd name="adj" fmla="val 23529"/>
            </a:avLst>
          </a:prstGeom>
          <a:solidFill>
            <a:srgbClr val="111827"/>
          </a:solidFill>
          <a:ln w="11430">
            <a:solidFill>
              <a:srgbClr val="F4C95D"/>
            </a:solidFill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819150" y="3486150"/>
            <a:ext cx="1085850" cy="20955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 fontScale="83333"/>
          </a:bodyPr>
          <a:lstStyle/>
          <a:p>
            <a:pPr algn="ctr">
              <a:defRPr sz="1050" b="1">
                <a:solidFill>
                  <a:srgbClr val="F4C9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F4C9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Roguelite</a:t>
            </a:r>
            <a:endParaRPr sz="1050" b="1">
              <a:solidFill>
                <a:srgbClr val="F4C95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圆角矩形 30"/>
          <p:cNvSpPr>
            <a:spLocks noGrp="1"/>
          </p:cNvSpPr>
          <p:nvPr/>
        </p:nvSpPr>
        <p:spPr>
          <a:xfrm>
            <a:off x="2152650" y="3429000"/>
            <a:ext cx="1333500" cy="323850"/>
          </a:xfrm>
          <a:prstGeom prst="roundRect">
            <a:avLst>
              <a:gd name="adj" fmla="val 23529"/>
            </a:avLst>
          </a:prstGeom>
          <a:solidFill>
            <a:srgbClr val="111827"/>
          </a:solidFill>
          <a:ln w="11430">
            <a:solidFill>
              <a:srgbClr val="58D7FF"/>
            </a:solidFill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2228850" y="3486150"/>
            <a:ext cx="1181100" cy="20955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 fontScale="83333"/>
          </a:bodyPr>
          <a:lstStyle/>
          <a:p>
            <a:pPr algn="ctr">
              <a:defRPr sz="1050" b="1">
                <a:solidFill>
                  <a:srgbClr val="58D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58D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Turn-Based</a:t>
            </a:r>
            <a:endParaRPr sz="1050" b="1">
              <a:solidFill>
                <a:srgbClr val="58D7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圆角矩形 32"/>
          <p:cNvSpPr>
            <a:spLocks noGrp="1"/>
          </p:cNvSpPr>
          <p:nvPr/>
        </p:nvSpPr>
        <p:spPr>
          <a:xfrm>
            <a:off x="3657600" y="3429000"/>
            <a:ext cx="1714500" cy="323850"/>
          </a:xfrm>
          <a:prstGeom prst="roundRect">
            <a:avLst>
              <a:gd name="adj" fmla="val 23529"/>
            </a:avLst>
          </a:prstGeom>
          <a:solidFill>
            <a:srgbClr val="111827"/>
          </a:solidFill>
          <a:ln w="11430">
            <a:solidFill>
              <a:srgbClr val="74D680"/>
            </a:solidFill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3733800" y="3486150"/>
            <a:ext cx="1562100" cy="20955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 fontScale="83333"/>
          </a:bodyPr>
          <a:lstStyle/>
          <a:p>
            <a:pPr algn="ctr">
              <a:defRPr sz="1050" b="1">
                <a:solidFill>
                  <a:srgbClr val="74D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74D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ScriptableObject</a:t>
            </a:r>
            <a:endParaRPr sz="1050" b="1">
              <a:solidFill>
                <a:srgbClr val="74D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圆角矩形 34"/>
          <p:cNvSpPr>
            <a:spLocks noGrp="1"/>
          </p:cNvSpPr>
          <p:nvPr/>
        </p:nvSpPr>
        <p:spPr>
          <a:xfrm>
            <a:off x="666750" y="4114800"/>
            <a:ext cx="5429250" cy="1428750"/>
          </a:xfrm>
          <a:prstGeom prst="roundRect">
            <a:avLst>
              <a:gd name="adj" fmla="val 5333"/>
            </a:avLst>
          </a:prstGeom>
          <a:solidFill>
            <a:srgbClr val="121A28"/>
          </a:solidFill>
          <a:ln w="11430">
            <a:solidFill>
              <a:srgbClr val="34445F"/>
            </a:solidFill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819150" y="4210050"/>
            <a:ext cx="5124450" cy="209550"/>
          </a:xfrm>
          <a:prstGeom prst="rect">
            <a:avLst/>
          </a:prstGeom>
          <a:solidFill>
            <a:srgbClr val="121A28"/>
          </a:solidFill>
          <a:ln w="0">
            <a:solidFill>
              <a:srgbClr val="121A28"/>
            </a:solidFill>
          </a:ln>
        </p:spPr>
        <p:txBody>
          <a:bodyPr wrap="square" lIns="57150" tIns="38100" rIns="57150" bIns="38100" anchor="t">
            <a:normAutofit fontScale="89744"/>
          </a:bodyPr>
          <a:lstStyle/>
          <a:p>
            <a:pPr algn="l">
              <a:defRPr sz="975" b="1">
                <a:solidFill>
                  <a:srgbClr val="F4C9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F4C9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Project evidence</a:t>
            </a:r>
            <a:endParaRPr sz="975" b="1">
              <a:solidFill>
                <a:srgbClr val="F4C95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838200" y="4514850"/>
            <a:ext cx="5086350" cy="914400"/>
          </a:xfrm>
          <a:prstGeom prst="rect">
            <a:avLst/>
          </a:prstGeom>
          <a:solidFill>
            <a:srgbClr val="121A28"/>
          </a:solidFill>
          <a:ln w="0">
            <a:solidFill>
              <a:srgbClr val="121A28"/>
            </a:solidFill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050" b="0">
                <a:solidFill>
                  <a:srgbClr val="DCE6F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50" b="0">
                <a:solidFill>
                  <a:srgbClr val="DCE6F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Assets/Scripts/MapScene</a:t>
            </a:r>
            <a:endParaRPr sz="1050" b="0">
              <a:solidFill>
                <a:srgbClr val="DCE6F5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050" b="0">
                <a:solidFill>
                  <a:srgbClr val="DCE6F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50" b="0">
                <a:solidFill>
                  <a:srgbClr val="DCE6F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Assets/Scripts/BattleScene</a:t>
            </a:r>
            <a:endParaRPr sz="1050" b="0">
              <a:solidFill>
                <a:srgbClr val="DCE6F5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050" b="0">
                <a:solidFill>
                  <a:srgbClr val="DCE6F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50" b="0">
                <a:solidFill>
                  <a:srgbClr val="DCE6F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Assets/Scripts/Shared</a:t>
            </a:r>
            <a:endParaRPr sz="1050" b="0">
              <a:solidFill>
                <a:srgbClr val="DCE6F5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050" b="0">
                <a:solidFill>
                  <a:srgbClr val="DCE6F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50" b="0">
                <a:solidFill>
                  <a:srgbClr val="DCE6F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Assets/Scripts/ScriptableObject</a:t>
            </a:r>
            <a:endParaRPr sz="1050" b="0">
              <a:solidFill>
                <a:srgbClr val="DCE6F5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050" b="0">
                <a:solidFill>
                  <a:srgbClr val="DCE6F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50" b="0">
                <a:solidFill>
                  <a:srgbClr val="DCE6F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Assets/Data/Relics · Enemies · Weapons</a:t>
            </a:r>
            <a:endParaRPr sz="1050" b="0">
              <a:solidFill>
                <a:srgbClr val="DCE6F5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49530"/>
            <a:ext cx="12192000" cy="685800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514350" y="247650"/>
            <a:ext cx="4762500" cy="26670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defRPr sz="1125" b="1">
                <a:solidFill>
                  <a:srgbClr val="F4C9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F4C9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背景</a:t>
            </a:r>
            <a:endParaRPr sz="1125" b="1">
              <a:solidFill>
                <a:srgbClr val="F4C95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76250" y="533400"/>
            <a:ext cx="10668000" cy="59055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defRPr sz="2400" b="1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可反复游玩的短局</a:t>
            </a:r>
            <a:endParaRPr sz="2400" b="1">
              <a:solidFill>
                <a:srgbClr val="F6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476250" y="1162050"/>
            <a:ext cx="11239500" cy="17145"/>
          </a:xfrm>
          <a:prstGeom prst="rect">
            <a:avLst/>
          </a:prstGeom>
          <a:solidFill>
            <a:srgbClr val="34445F"/>
          </a:solidFill>
          <a:ln w="0">
            <a:solidFill>
              <a:srgbClr val="34445F"/>
            </a:solidFill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476250" y="6429375"/>
            <a:ext cx="7239000" cy="20955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 fontScale="89744"/>
          </a:bodyPr>
          <a:lstStyle/>
          <a:p>
            <a:pPr algn="l">
              <a:defRPr sz="975" b="0">
                <a:solidFill>
                  <a:srgbClr val="7F8AA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7F8AA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Mobile Roguelite Turn-Based Game · Unity / Tuanjie 2022.3</a:t>
            </a:r>
            <a:endParaRPr sz="975" b="0">
              <a:solidFill>
                <a:srgbClr val="7F8AA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144250" y="6362700"/>
            <a:ext cx="571500" cy="26670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/>
          </a:bodyPr>
          <a:lstStyle/>
          <a:p>
            <a:pPr algn="r">
              <a:defRPr sz="1200" b="1">
                <a:solidFill>
                  <a:srgbClr val="F4C9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4C9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200" b="1">
              <a:solidFill>
                <a:srgbClr val="F4C95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723900" y="1733550"/>
            <a:ext cx="2476500" cy="1428750"/>
          </a:xfrm>
          <a:prstGeom prst="roundRect">
            <a:avLst>
              <a:gd name="adj" fmla="val 5333"/>
            </a:avLst>
          </a:prstGeom>
          <a:solidFill>
            <a:srgbClr val="182133"/>
          </a:solidFill>
          <a:ln w="11430">
            <a:solidFill>
              <a:srgbClr val="F4C95D"/>
            </a:solidFill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857250" y="1847850"/>
            <a:ext cx="2209800" cy="24765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 fontScale="83333"/>
          </a:bodyPr>
          <a:lstStyle/>
          <a:p>
            <a:pPr algn="l">
              <a:defRPr sz="1350" b="1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移动端场景</a:t>
            </a:r>
            <a:endParaRPr sz="1350" b="1">
              <a:solidFill>
                <a:srgbClr val="F6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57250" y="2133600"/>
            <a:ext cx="2209800" cy="95250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defRPr sz="1050" b="0">
                <a:solidFill>
                  <a:srgbClr val="AEB8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AEB8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碎片时间、单局节奏短、反馈</a:t>
            </a:r>
            <a:r>
              <a:rPr lang="zh-CN" sz="1050" b="0">
                <a:solidFill>
                  <a:srgbClr val="AEB8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</a:t>
            </a:r>
            <a:r>
              <a:rPr sz="1050" b="0">
                <a:solidFill>
                  <a:srgbClr val="AEB8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即时</a:t>
            </a:r>
            <a:endParaRPr sz="1050" b="0">
              <a:solidFill>
                <a:srgbClr val="AEB8C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3733800" y="1733550"/>
            <a:ext cx="2857500" cy="1428750"/>
          </a:xfrm>
          <a:prstGeom prst="roundRect">
            <a:avLst>
              <a:gd name="adj" fmla="val 5333"/>
            </a:avLst>
          </a:prstGeom>
          <a:solidFill>
            <a:srgbClr val="182133"/>
          </a:solidFill>
          <a:ln w="11430">
            <a:solidFill>
              <a:srgbClr val="58D7FF"/>
            </a:solidFill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3867150" y="1847850"/>
            <a:ext cx="2590800" cy="24765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 fontScale="83333"/>
          </a:bodyPr>
          <a:lstStyle/>
          <a:p>
            <a:pPr algn="l">
              <a:defRPr sz="1350" b="1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Roguelite 构筑</a:t>
            </a:r>
            <a:endParaRPr sz="1350" b="1">
              <a:solidFill>
                <a:srgbClr val="F6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3867150" y="2133600"/>
            <a:ext cx="2590800" cy="95250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defRPr sz="1050" b="0">
                <a:solidFill>
                  <a:srgbClr val="AEB8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AEB8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随机事件、遗物组合、敌人变化带来复玩价值</a:t>
            </a:r>
            <a:endParaRPr sz="1050" b="0">
              <a:solidFill>
                <a:srgbClr val="AEB8C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7124700" y="1733550"/>
            <a:ext cx="3143250" cy="1428750"/>
          </a:xfrm>
          <a:prstGeom prst="roundRect">
            <a:avLst>
              <a:gd name="adj" fmla="val 5333"/>
            </a:avLst>
          </a:prstGeom>
          <a:solidFill>
            <a:srgbClr val="182133"/>
          </a:solidFill>
          <a:ln w="11430">
            <a:solidFill>
              <a:srgbClr val="74D680"/>
            </a:solidFill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7258050" y="1847850"/>
            <a:ext cx="2876550" cy="24765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 fontScale="83333"/>
          </a:bodyPr>
          <a:lstStyle/>
          <a:p>
            <a:pPr algn="l">
              <a:defRPr sz="1350" b="1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回合制策略</a:t>
            </a:r>
            <a:endParaRPr sz="1350" b="1">
              <a:solidFill>
                <a:srgbClr val="F6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7258050" y="2133600"/>
            <a:ext cx="2876550" cy="95250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defRPr sz="1050" b="0">
                <a:solidFill>
                  <a:srgbClr val="AEB8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AEB8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技能选择和目标管理</a:t>
            </a:r>
            <a:r>
              <a:rPr lang="zh-CN" sz="1050" b="0">
                <a:solidFill>
                  <a:srgbClr val="AEB8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可供</a:t>
            </a:r>
            <a:r>
              <a:rPr sz="1050" b="0">
                <a:solidFill>
                  <a:srgbClr val="AEB8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决策</a:t>
            </a:r>
            <a:endParaRPr sz="1050" b="0">
              <a:solidFill>
                <a:srgbClr val="AEB8C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3200400" y="2419350"/>
            <a:ext cx="533400" cy="28575"/>
          </a:xfrm>
          <a:prstGeom prst="rect">
            <a:avLst/>
          </a:prstGeom>
          <a:solidFill>
            <a:srgbClr val="F4C95D"/>
          </a:solidFill>
          <a:ln w="0">
            <a:solidFill>
              <a:srgbClr val="F4C95D"/>
            </a:solidFill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3638550" y="2371725"/>
            <a:ext cx="114300" cy="114300"/>
          </a:xfrm>
          <a:prstGeom prst="rect">
            <a:avLst/>
          </a:prstGeom>
          <a:solidFill>
            <a:srgbClr val="F4C95D"/>
          </a:solidFill>
          <a:ln w="0">
            <a:solidFill>
              <a:srgbClr val="F4C95D"/>
            </a:solidFill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6591300" y="2419350"/>
            <a:ext cx="533400" cy="28575"/>
          </a:xfrm>
          <a:prstGeom prst="rect">
            <a:avLst/>
          </a:prstGeom>
          <a:solidFill>
            <a:srgbClr val="58D7FF"/>
          </a:solidFill>
          <a:ln w="0">
            <a:solidFill>
              <a:srgbClr val="58D7FF"/>
            </a:solidFill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7029450" y="2371725"/>
            <a:ext cx="114300" cy="114300"/>
          </a:xfrm>
          <a:prstGeom prst="rect">
            <a:avLst/>
          </a:prstGeom>
          <a:solidFill>
            <a:srgbClr val="58D7FF"/>
          </a:solidFill>
          <a:ln w="0">
            <a:solidFill>
              <a:srgbClr val="58D7FF"/>
            </a:solidFill>
          </a:ln>
        </p:spPr>
      </p:sp>
      <p:sp>
        <p:nvSpPr>
          <p:cNvPr id="21" name="圆角矩形 20"/>
          <p:cNvSpPr>
            <a:spLocks noGrp="1"/>
          </p:cNvSpPr>
          <p:nvPr/>
        </p:nvSpPr>
        <p:spPr>
          <a:xfrm>
            <a:off x="3476625" y="3857625"/>
            <a:ext cx="4667250" cy="1428750"/>
          </a:xfrm>
          <a:prstGeom prst="roundRect">
            <a:avLst>
              <a:gd name="adj" fmla="val 5333"/>
            </a:avLst>
          </a:prstGeom>
          <a:solidFill>
            <a:srgbClr val="151E2D"/>
          </a:solidFill>
          <a:ln w="11430">
            <a:solidFill>
              <a:srgbClr val="34445F"/>
            </a:solidFill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3752850" y="4040505"/>
            <a:ext cx="1524000" cy="285750"/>
          </a:xfrm>
          <a:prstGeom prst="rect">
            <a:avLst/>
          </a:prstGeom>
          <a:solidFill>
            <a:srgbClr val="151E2D"/>
          </a:solidFill>
          <a:ln w="0">
            <a:solidFill>
              <a:srgbClr val="151E2D"/>
            </a:solidFill>
          </a:ln>
        </p:spPr>
        <p:txBody>
          <a:bodyPr wrap="square" lIns="57150" tIns="38100" rIns="57150" bIns="38100" anchor="t">
            <a:normAutofit fontScale="83333"/>
          </a:bodyPr>
          <a:lstStyle/>
          <a:p>
            <a:pPr algn="l">
              <a:defRPr sz="1650" b="1">
                <a:solidFill>
                  <a:srgbClr val="F4C9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F4C9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设计目标</a:t>
            </a:r>
            <a:endParaRPr sz="1650" b="1">
              <a:solidFill>
                <a:srgbClr val="F4C95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3733800" y="4411980"/>
            <a:ext cx="4000500" cy="704850"/>
          </a:xfrm>
          <a:prstGeom prst="rect">
            <a:avLst/>
          </a:prstGeom>
          <a:solidFill>
            <a:srgbClr val="151E2D"/>
          </a:solidFill>
          <a:ln w="0">
            <a:solidFill>
              <a:srgbClr val="151E2D"/>
            </a:solidFill>
          </a:ln>
        </p:spPr>
        <p:txBody>
          <a:bodyPr wrap="square" lIns="95250" tIns="76200" rIns="95250" bIns="76200" anchor="t">
            <a:normAutofit fontScale="84795"/>
          </a:bodyPr>
          <a:lstStyle/>
          <a:p>
            <a:pPr algn="l">
              <a:defRPr sz="1425" b="0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让玩家每一回合都有可见收益和风险判断</a:t>
            </a:r>
            <a:endParaRPr sz="1425" b="0">
              <a:solidFill>
                <a:srgbClr val="F6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425" b="0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让内容通过数据资产持续扩展</a:t>
            </a:r>
            <a:endParaRPr sz="1425" b="0">
              <a:solidFill>
                <a:srgbClr val="F6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425" b="0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让核心规则可测试、可复用、可定位问题</a:t>
            </a:r>
            <a:endParaRPr sz="1425" b="0">
              <a:solidFill>
                <a:srgbClr val="F6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514350" y="247650"/>
            <a:ext cx="4762500" cy="26670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defRPr sz="1125" b="1">
                <a:solidFill>
                  <a:srgbClr val="F4C9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F4C9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核心玩法闭环</a:t>
            </a:r>
            <a:endParaRPr sz="1125" b="1">
              <a:solidFill>
                <a:srgbClr val="F4C95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76250" y="533400"/>
            <a:ext cx="10668000" cy="59055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defRPr sz="2400" b="1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核心闭环由探索选择、战斗验证和成长奖励三段驱动</a:t>
            </a:r>
            <a:endParaRPr sz="2400" b="1">
              <a:solidFill>
                <a:srgbClr val="F6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476250" y="1162050"/>
            <a:ext cx="11239500" cy="17145"/>
          </a:xfrm>
          <a:prstGeom prst="rect">
            <a:avLst/>
          </a:prstGeom>
          <a:solidFill>
            <a:srgbClr val="34445F"/>
          </a:solidFill>
          <a:ln w="0">
            <a:solidFill>
              <a:srgbClr val="34445F"/>
            </a:solidFill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476250" y="6429375"/>
            <a:ext cx="7239000" cy="20955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 fontScale="89744"/>
          </a:bodyPr>
          <a:lstStyle/>
          <a:p>
            <a:pPr algn="l">
              <a:defRPr sz="975" b="0">
                <a:solidFill>
                  <a:srgbClr val="7F8AA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7F8AA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Mobile Roguelite Turn-Based Game · Unity / Tuanjie 2022.3</a:t>
            </a:r>
            <a:endParaRPr sz="975" b="0">
              <a:solidFill>
                <a:srgbClr val="7F8AA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144250" y="6362700"/>
            <a:ext cx="571500" cy="26670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/>
          </a:bodyPr>
          <a:lstStyle/>
          <a:p>
            <a:pPr algn="r">
              <a:defRPr sz="1200" b="1">
                <a:solidFill>
                  <a:srgbClr val="F4C9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4C9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200" b="1">
              <a:solidFill>
                <a:srgbClr val="F4C95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647700" y="2000250"/>
            <a:ext cx="2095500" cy="1314450"/>
          </a:xfrm>
          <a:prstGeom prst="roundRect">
            <a:avLst>
              <a:gd name="adj" fmla="val 5797"/>
            </a:avLst>
          </a:prstGeom>
          <a:solidFill>
            <a:srgbClr val="182133"/>
          </a:solidFill>
          <a:ln w="11430">
            <a:solidFill>
              <a:srgbClr val="F4C95D"/>
            </a:solidFill>
          </a:ln>
        </p:spPr>
      </p:sp>
      <p:sp>
        <p:nvSpPr>
          <p:cNvPr id="9" name="矩形 8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781050" y="2114550"/>
            <a:ext cx="1828800" cy="24765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 fontScale="83333"/>
          </a:bodyPr>
          <a:lstStyle/>
          <a:p>
            <a:pPr algn="l">
              <a:defRPr sz="1350" b="1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地图探索</a:t>
            </a:r>
            <a:endParaRPr sz="1350" b="1">
              <a:solidFill>
                <a:srgbClr val="F6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781050" y="2400300"/>
            <a:ext cx="1828800" cy="83820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defRPr sz="1050" b="0">
                <a:solidFill>
                  <a:srgbClr val="AEB8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AEB8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节点推进、事件选择、商店与奖励</a:t>
            </a:r>
            <a:endParaRPr sz="1050" b="0">
              <a:solidFill>
                <a:srgbClr val="AEB8C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圆角矩形 10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3238500" y="2000250"/>
            <a:ext cx="2476500" cy="1314450"/>
          </a:xfrm>
          <a:prstGeom prst="roundRect">
            <a:avLst>
              <a:gd name="adj" fmla="val 5797"/>
            </a:avLst>
          </a:prstGeom>
          <a:solidFill>
            <a:srgbClr val="182133"/>
          </a:solidFill>
          <a:ln w="11430">
            <a:solidFill>
              <a:srgbClr val="58D7FF"/>
            </a:solidFill>
          </a:ln>
        </p:spPr>
      </p:sp>
      <p:sp>
        <p:nvSpPr>
          <p:cNvPr id="12" name="矩形 11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3371850" y="2114550"/>
            <a:ext cx="2209800" cy="24765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 fontScale="83333"/>
          </a:bodyPr>
          <a:lstStyle/>
          <a:p>
            <a:pPr algn="l">
              <a:defRPr sz="1350" b="1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遭遇战斗</a:t>
            </a:r>
            <a:endParaRPr sz="1350" b="1">
              <a:solidFill>
                <a:srgbClr val="F6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3371850" y="2400300"/>
            <a:ext cx="2209800" cy="83820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defRPr sz="1050" b="0">
                <a:solidFill>
                  <a:srgbClr val="AEB8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AEB8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技能与目标决定收益</a:t>
            </a:r>
            <a:endParaRPr sz="1050" b="0">
              <a:solidFill>
                <a:srgbClr val="AEB8C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圆角矩形 13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6210300" y="2000250"/>
            <a:ext cx="2381250" cy="1314450"/>
          </a:xfrm>
          <a:prstGeom prst="roundRect">
            <a:avLst>
              <a:gd name="adj" fmla="val 5797"/>
            </a:avLst>
          </a:prstGeom>
          <a:solidFill>
            <a:srgbClr val="182133"/>
          </a:solidFill>
          <a:ln w="11430">
            <a:solidFill>
              <a:srgbClr val="74D680"/>
            </a:solidFill>
          </a:ln>
        </p:spPr>
      </p:sp>
      <p:sp>
        <p:nvSpPr>
          <p:cNvPr id="15" name="矩形 14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6343650" y="2114550"/>
            <a:ext cx="2114550" cy="24765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 fontScale="83333"/>
          </a:bodyPr>
          <a:lstStyle/>
          <a:p>
            <a:pPr algn="l">
              <a:defRPr sz="1350" b="1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结算掉落</a:t>
            </a:r>
            <a:endParaRPr sz="1350" b="1">
              <a:solidFill>
                <a:srgbClr val="F6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6343650" y="2400300"/>
            <a:ext cx="2114550" cy="83820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defRPr sz="1050" b="0">
                <a:solidFill>
                  <a:srgbClr val="AEB8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AEB8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金币、遗物、武器与下一步路线资源</a:t>
            </a:r>
            <a:endParaRPr sz="1050" b="0">
              <a:solidFill>
                <a:srgbClr val="AEB8C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圆角矩形 16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9086850" y="2000250"/>
            <a:ext cx="2190750" cy="1314450"/>
          </a:xfrm>
          <a:prstGeom prst="roundRect">
            <a:avLst>
              <a:gd name="adj" fmla="val 5797"/>
            </a:avLst>
          </a:prstGeom>
          <a:solidFill>
            <a:srgbClr val="182133"/>
          </a:solidFill>
          <a:ln w="11430">
            <a:solidFill>
              <a:srgbClr val="B69CFF"/>
            </a:solidFill>
          </a:ln>
        </p:spPr>
      </p:sp>
      <p:sp>
        <p:nvSpPr>
          <p:cNvPr id="18" name="矩形 17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9220200" y="2114550"/>
            <a:ext cx="1924050" cy="24765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 fontScale="83333"/>
          </a:bodyPr>
          <a:lstStyle/>
          <a:p>
            <a:pPr algn="l">
              <a:defRPr sz="1350" b="1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构筑变化</a:t>
            </a:r>
            <a:endParaRPr sz="1350" b="1">
              <a:solidFill>
                <a:srgbClr val="F6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9220200" y="2400300"/>
            <a:ext cx="1924050" cy="83820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defRPr sz="1050" b="0">
                <a:solidFill>
                  <a:srgbClr val="AEB8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AEB8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遗物和状态改变后续回合规则</a:t>
            </a:r>
            <a:endParaRPr sz="1050" b="0">
              <a:solidFill>
                <a:srgbClr val="AEB8C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>
            <p:custDataLst>
              <p:tags r:id="rId13"/>
            </p:custDataLst>
          </p:nvPr>
        </p:nvSpPr>
        <p:spPr>
          <a:xfrm>
            <a:off x="2743200" y="2647950"/>
            <a:ext cx="495300" cy="28575"/>
          </a:xfrm>
          <a:prstGeom prst="rect">
            <a:avLst/>
          </a:prstGeom>
          <a:solidFill>
            <a:srgbClr val="F4C95D"/>
          </a:solidFill>
          <a:ln w="0">
            <a:solidFill>
              <a:srgbClr val="F4C95D"/>
            </a:solidFill>
          </a:ln>
        </p:spPr>
      </p:sp>
      <p:sp>
        <p:nvSpPr>
          <p:cNvPr id="21" name="矩形 20"/>
          <p:cNvSpPr>
            <a:spLocks noGrp="1"/>
          </p:cNvSpPr>
          <p:nvPr>
            <p:custDataLst>
              <p:tags r:id="rId14"/>
            </p:custDataLst>
          </p:nvPr>
        </p:nvSpPr>
        <p:spPr>
          <a:xfrm>
            <a:off x="3143250" y="2600325"/>
            <a:ext cx="114300" cy="114300"/>
          </a:xfrm>
          <a:prstGeom prst="rect">
            <a:avLst/>
          </a:prstGeom>
          <a:solidFill>
            <a:srgbClr val="F4C95D"/>
          </a:solidFill>
          <a:ln w="0">
            <a:solidFill>
              <a:srgbClr val="F4C95D"/>
            </a:solidFill>
          </a:ln>
        </p:spPr>
      </p:sp>
      <p:sp>
        <p:nvSpPr>
          <p:cNvPr id="22" name="矩形 21"/>
          <p:cNvSpPr>
            <a:spLocks noGrp="1"/>
          </p:cNvSpPr>
          <p:nvPr>
            <p:custDataLst>
              <p:tags r:id="rId15"/>
            </p:custDataLst>
          </p:nvPr>
        </p:nvSpPr>
        <p:spPr>
          <a:xfrm>
            <a:off x="5715000" y="2647950"/>
            <a:ext cx="495300" cy="28575"/>
          </a:xfrm>
          <a:prstGeom prst="rect">
            <a:avLst/>
          </a:prstGeom>
          <a:solidFill>
            <a:srgbClr val="58D7FF"/>
          </a:solidFill>
          <a:ln w="0">
            <a:solidFill>
              <a:srgbClr val="58D7FF"/>
            </a:solidFill>
          </a:ln>
        </p:spPr>
      </p:sp>
      <p:sp>
        <p:nvSpPr>
          <p:cNvPr id="23" name="矩形 22"/>
          <p:cNvSpPr>
            <a:spLocks noGrp="1"/>
          </p:cNvSpPr>
          <p:nvPr>
            <p:custDataLst>
              <p:tags r:id="rId16"/>
            </p:custDataLst>
          </p:nvPr>
        </p:nvSpPr>
        <p:spPr>
          <a:xfrm>
            <a:off x="6115050" y="2600325"/>
            <a:ext cx="114300" cy="114300"/>
          </a:xfrm>
          <a:prstGeom prst="rect">
            <a:avLst/>
          </a:prstGeom>
          <a:solidFill>
            <a:srgbClr val="58D7FF"/>
          </a:solidFill>
          <a:ln w="0">
            <a:solidFill>
              <a:srgbClr val="58D7FF"/>
            </a:solidFill>
          </a:ln>
        </p:spPr>
      </p:sp>
      <p:sp>
        <p:nvSpPr>
          <p:cNvPr id="24" name="矩形 23"/>
          <p:cNvSpPr>
            <a:spLocks noGrp="1"/>
          </p:cNvSpPr>
          <p:nvPr>
            <p:custDataLst>
              <p:tags r:id="rId17"/>
            </p:custDataLst>
          </p:nvPr>
        </p:nvSpPr>
        <p:spPr>
          <a:xfrm>
            <a:off x="8591550" y="2647950"/>
            <a:ext cx="495300" cy="28575"/>
          </a:xfrm>
          <a:prstGeom prst="rect">
            <a:avLst/>
          </a:prstGeom>
          <a:solidFill>
            <a:srgbClr val="74D680"/>
          </a:solidFill>
          <a:ln w="0">
            <a:solidFill>
              <a:srgbClr val="74D680"/>
            </a:solidFill>
          </a:ln>
        </p:spPr>
      </p:sp>
      <p:sp>
        <p:nvSpPr>
          <p:cNvPr id="25" name="矩形 24"/>
          <p:cNvSpPr>
            <a:spLocks noGrp="1"/>
          </p:cNvSpPr>
          <p:nvPr>
            <p:custDataLst>
              <p:tags r:id="rId18"/>
            </p:custDataLst>
          </p:nvPr>
        </p:nvSpPr>
        <p:spPr>
          <a:xfrm>
            <a:off x="8991600" y="2600325"/>
            <a:ext cx="114300" cy="114300"/>
          </a:xfrm>
          <a:prstGeom prst="rect">
            <a:avLst/>
          </a:prstGeom>
          <a:solidFill>
            <a:srgbClr val="74D680"/>
          </a:solidFill>
          <a:ln w="0">
            <a:solidFill>
              <a:srgbClr val="74D680"/>
            </a:solidFill>
          </a:ln>
        </p:spPr>
      </p:sp>
      <p:sp>
        <p:nvSpPr>
          <p:cNvPr id="26" name="圆角矩形 25"/>
          <p:cNvSpPr>
            <a:spLocks noGrp="1"/>
          </p:cNvSpPr>
          <p:nvPr/>
        </p:nvSpPr>
        <p:spPr>
          <a:xfrm>
            <a:off x="1123950" y="4267200"/>
            <a:ext cx="9906000" cy="685800"/>
          </a:xfrm>
          <a:prstGeom prst="roundRect">
            <a:avLst>
              <a:gd name="adj" fmla="val 11111"/>
            </a:avLst>
          </a:prstGeom>
          <a:solidFill>
            <a:srgbClr val="151E2D"/>
          </a:solidFill>
          <a:ln w="11430">
            <a:solidFill>
              <a:srgbClr val="34445F"/>
            </a:solidFill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1428750" y="4438650"/>
            <a:ext cx="9334500" cy="400050"/>
          </a:xfrm>
          <a:prstGeom prst="rect">
            <a:avLst/>
          </a:prstGeom>
          <a:solidFill>
            <a:srgbClr val="151E2D"/>
          </a:solidFill>
          <a:ln w="0">
            <a:solidFill>
              <a:srgbClr val="151E2D"/>
            </a:solidFill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defRPr sz="1800" b="1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每一次战斗既是路线成本，也是构筑验证；每一个奖励又会改变下一轮战斗的决策空间。</a:t>
            </a:r>
            <a:endParaRPr sz="1800" b="1">
              <a:solidFill>
                <a:srgbClr val="F6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圆角矩形 27"/>
          <p:cNvSpPr>
            <a:spLocks noGrp="1"/>
          </p:cNvSpPr>
          <p:nvPr/>
        </p:nvSpPr>
        <p:spPr>
          <a:xfrm>
            <a:off x="1524000" y="5286375"/>
            <a:ext cx="2190750" cy="762000"/>
          </a:xfrm>
          <a:prstGeom prst="roundRect">
            <a:avLst>
              <a:gd name="adj" fmla="val 10000"/>
            </a:avLst>
          </a:prstGeom>
          <a:solidFill>
            <a:srgbClr val="182133"/>
          </a:solidFill>
          <a:ln w="11430">
            <a:solidFill>
              <a:srgbClr val="34445F"/>
            </a:solidFill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1676400" y="5419725"/>
            <a:ext cx="1885950" cy="28575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 fontScale="73333"/>
          </a:bodyPr>
          <a:lstStyle/>
          <a:p>
            <a:pPr algn="l">
              <a:defRPr sz="1875" b="1">
                <a:solidFill>
                  <a:srgbClr val="F4C9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F4C9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短局</a:t>
            </a:r>
            <a:endParaRPr sz="1875" b="1">
              <a:solidFill>
                <a:srgbClr val="F4C95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1676400" y="5724525"/>
            <a:ext cx="1885950" cy="22860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defRPr sz="975" b="0">
                <a:solidFill>
                  <a:srgbClr val="AEB8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AEB8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适配移动端节奏</a:t>
            </a:r>
            <a:endParaRPr sz="975" b="0">
              <a:solidFill>
                <a:srgbClr val="AEB8C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圆角矩形 30"/>
          <p:cNvSpPr>
            <a:spLocks noGrp="1"/>
          </p:cNvSpPr>
          <p:nvPr/>
        </p:nvSpPr>
        <p:spPr>
          <a:xfrm>
            <a:off x="4991100" y="5286375"/>
            <a:ext cx="2190750" cy="762000"/>
          </a:xfrm>
          <a:prstGeom prst="roundRect">
            <a:avLst>
              <a:gd name="adj" fmla="val 10000"/>
            </a:avLst>
          </a:prstGeom>
          <a:solidFill>
            <a:srgbClr val="182133"/>
          </a:solidFill>
          <a:ln w="11430">
            <a:solidFill>
              <a:srgbClr val="34445F"/>
            </a:solidFill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5143500" y="5419725"/>
            <a:ext cx="1885950" cy="28575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 fontScale="73333"/>
          </a:bodyPr>
          <a:lstStyle/>
          <a:p>
            <a:pPr algn="l">
              <a:defRPr sz="1875" b="1">
                <a:solidFill>
                  <a:srgbClr val="58D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58D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随机</a:t>
            </a:r>
            <a:endParaRPr sz="1875" b="1">
              <a:solidFill>
                <a:srgbClr val="58D7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5143500" y="5724525"/>
            <a:ext cx="1885950" cy="22860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defRPr sz="975" b="0">
                <a:solidFill>
                  <a:srgbClr val="AEB8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AEB8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提升复玩差异</a:t>
            </a:r>
            <a:endParaRPr sz="975" b="0">
              <a:solidFill>
                <a:srgbClr val="AEB8C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圆角矩形 33"/>
          <p:cNvSpPr>
            <a:spLocks noGrp="1"/>
          </p:cNvSpPr>
          <p:nvPr/>
        </p:nvSpPr>
        <p:spPr>
          <a:xfrm>
            <a:off x="8458200" y="5286375"/>
            <a:ext cx="2190750" cy="762000"/>
          </a:xfrm>
          <a:prstGeom prst="roundRect">
            <a:avLst>
              <a:gd name="adj" fmla="val 10000"/>
            </a:avLst>
          </a:prstGeom>
          <a:solidFill>
            <a:srgbClr val="182133"/>
          </a:solidFill>
          <a:ln w="11430">
            <a:solidFill>
              <a:srgbClr val="34445F"/>
            </a:solidFill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8610600" y="5419725"/>
            <a:ext cx="1885950" cy="28575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 fontScale="73333"/>
          </a:bodyPr>
          <a:lstStyle/>
          <a:p>
            <a:pPr algn="l">
              <a:defRPr sz="1875" b="1">
                <a:solidFill>
                  <a:srgbClr val="74D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74D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可解释</a:t>
            </a:r>
            <a:endParaRPr sz="1875" b="1">
              <a:solidFill>
                <a:srgbClr val="74D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8610600" y="5724525"/>
            <a:ext cx="1885950" cy="22860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defRPr sz="975" b="0">
                <a:solidFill>
                  <a:srgbClr val="AEB8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AEB8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回合策略透明</a:t>
            </a:r>
            <a:endParaRPr sz="975" b="0">
              <a:solidFill>
                <a:srgbClr val="AEB8C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514350" y="247650"/>
            <a:ext cx="4762500" cy="26670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defRPr sz="1125" b="1">
                <a:solidFill>
                  <a:srgbClr val="F4C9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F4C9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总体架构</a:t>
            </a:r>
            <a:endParaRPr sz="1125" b="1">
              <a:solidFill>
                <a:srgbClr val="F4C95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76250" y="533400"/>
            <a:ext cx="10668000" cy="59055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defRPr sz="2400" b="1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架构把场景表现、共享规则和数据资产拆开，降低迭代成本</a:t>
            </a:r>
            <a:endParaRPr sz="2400" b="1">
              <a:solidFill>
                <a:srgbClr val="F6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476250" y="1162050"/>
            <a:ext cx="11239500" cy="17145"/>
          </a:xfrm>
          <a:prstGeom prst="rect">
            <a:avLst/>
          </a:prstGeom>
          <a:solidFill>
            <a:srgbClr val="34445F"/>
          </a:solidFill>
          <a:ln w="0">
            <a:solidFill>
              <a:srgbClr val="34445F"/>
            </a:solidFill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476250" y="6429375"/>
            <a:ext cx="7239000" cy="20955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 fontScale="89744"/>
          </a:bodyPr>
          <a:lstStyle/>
          <a:p>
            <a:pPr algn="l">
              <a:defRPr sz="975" b="0">
                <a:solidFill>
                  <a:srgbClr val="7F8AA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7F8AA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Mobile Roguelite Turn-Based Game · Unity / Tuanjie 2022.3</a:t>
            </a:r>
            <a:endParaRPr sz="975" b="0">
              <a:solidFill>
                <a:srgbClr val="7F8AA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144250" y="6362700"/>
            <a:ext cx="571500" cy="26670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/>
          </a:bodyPr>
          <a:lstStyle/>
          <a:p>
            <a:pPr algn="r">
              <a:defRPr sz="1200" b="1">
                <a:solidFill>
                  <a:srgbClr val="F4C9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4C9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1200" b="1">
              <a:solidFill>
                <a:srgbClr val="F4C95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647700" y="1733550"/>
            <a:ext cx="2286000" cy="1123950"/>
          </a:xfrm>
          <a:prstGeom prst="roundRect">
            <a:avLst>
              <a:gd name="adj" fmla="val 6780"/>
            </a:avLst>
          </a:prstGeom>
          <a:solidFill>
            <a:srgbClr val="182133"/>
          </a:solidFill>
          <a:ln w="11430">
            <a:solidFill>
              <a:srgbClr val="F4C95D"/>
            </a:solidFill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781050" y="1847850"/>
            <a:ext cx="2019300" cy="24765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 fontScale="83333"/>
          </a:bodyPr>
          <a:lstStyle/>
          <a:p>
            <a:pPr algn="l">
              <a:defRPr sz="1350" b="1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MapScene</a:t>
            </a:r>
            <a:endParaRPr sz="1350" b="1">
              <a:solidFill>
                <a:srgbClr val="F6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781050" y="2133600"/>
            <a:ext cx="2019300" cy="64770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defRPr sz="1050" b="0">
                <a:solidFill>
                  <a:srgbClr val="AEB8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AEB8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地图节点、事件弹窗、路线推进、教程引导</a:t>
            </a:r>
            <a:endParaRPr sz="1050" b="0">
              <a:solidFill>
                <a:srgbClr val="AEB8C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647700" y="3429000"/>
            <a:ext cx="2286000" cy="1123950"/>
          </a:xfrm>
          <a:prstGeom prst="roundRect">
            <a:avLst>
              <a:gd name="adj" fmla="val 6780"/>
            </a:avLst>
          </a:prstGeom>
          <a:solidFill>
            <a:srgbClr val="182133"/>
          </a:solidFill>
          <a:ln w="11430">
            <a:solidFill>
              <a:srgbClr val="58D7FF"/>
            </a:solidFill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781050" y="3543300"/>
            <a:ext cx="2019300" cy="24765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 fontScale="83333"/>
          </a:bodyPr>
          <a:lstStyle/>
          <a:p>
            <a:pPr algn="l">
              <a:defRPr sz="1350" b="1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BattleScene</a:t>
            </a:r>
            <a:endParaRPr sz="1350" b="1">
              <a:solidFill>
                <a:srgbClr val="F6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781050" y="3829050"/>
            <a:ext cx="2019300" cy="64770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defRPr sz="1050" b="0">
                <a:solidFill>
                  <a:srgbClr val="AEB8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AEB8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战斗控制器、表现桥接、按钮与目标选择</a:t>
            </a:r>
            <a:endParaRPr sz="1050" b="0">
              <a:solidFill>
                <a:srgbClr val="AEB8C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4476750" y="2571750"/>
            <a:ext cx="2667000" cy="1295400"/>
          </a:xfrm>
          <a:prstGeom prst="roundRect">
            <a:avLst>
              <a:gd name="adj" fmla="val 5882"/>
            </a:avLst>
          </a:prstGeom>
          <a:solidFill>
            <a:srgbClr val="182133"/>
          </a:solidFill>
          <a:ln w="11430">
            <a:solidFill>
              <a:srgbClr val="74D680"/>
            </a:solidFill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4610100" y="2686050"/>
            <a:ext cx="2400300" cy="24765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 fontScale="83333"/>
          </a:bodyPr>
          <a:lstStyle/>
          <a:p>
            <a:pPr algn="l">
              <a:defRPr sz="1350" b="1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Shared</a:t>
            </a:r>
            <a:endParaRPr sz="1350" b="1">
              <a:solidFill>
                <a:srgbClr val="F6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4610100" y="2971800"/>
            <a:ext cx="2400300" cy="81915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defRPr sz="1050" b="0">
                <a:solidFill>
                  <a:srgbClr val="AEB8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AEB8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骰子、状态、遗物、结算、伤害和召唤规则</a:t>
            </a:r>
            <a:endParaRPr sz="1050" b="0">
              <a:solidFill>
                <a:srgbClr val="AEB8C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8629650" y="1733550"/>
            <a:ext cx="2381250" cy="1123950"/>
          </a:xfrm>
          <a:prstGeom prst="roundRect">
            <a:avLst>
              <a:gd name="adj" fmla="val 6780"/>
            </a:avLst>
          </a:prstGeom>
          <a:solidFill>
            <a:srgbClr val="182133"/>
          </a:solidFill>
          <a:ln w="11430">
            <a:solidFill>
              <a:srgbClr val="B69CFF"/>
            </a:solidFill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8763000" y="1847850"/>
            <a:ext cx="2114550" cy="24765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 fontScale="83333"/>
          </a:bodyPr>
          <a:lstStyle/>
          <a:p>
            <a:pPr algn="l">
              <a:defRPr sz="1350" b="1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ScriptableObject</a:t>
            </a:r>
            <a:endParaRPr sz="1350" b="1">
              <a:solidFill>
                <a:srgbClr val="F6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763000" y="2133600"/>
            <a:ext cx="2114550" cy="64770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defRPr sz="1050" b="0">
                <a:solidFill>
                  <a:srgbClr val="AEB8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AEB8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敌人、武器、遗物、教程和关卡数据定义</a:t>
            </a:r>
            <a:endParaRPr sz="1050" b="0">
              <a:solidFill>
                <a:srgbClr val="AEB8C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8629650" y="3429000"/>
            <a:ext cx="2381250" cy="1123950"/>
          </a:xfrm>
          <a:prstGeom prst="roundRect">
            <a:avLst>
              <a:gd name="adj" fmla="val 6780"/>
            </a:avLst>
          </a:prstGeom>
          <a:solidFill>
            <a:srgbClr val="182133"/>
          </a:solidFill>
          <a:ln w="11430">
            <a:solidFill>
              <a:srgbClr val="F4C95D"/>
            </a:solidFill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8763000" y="3543300"/>
            <a:ext cx="2114550" cy="24765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 fontScale="83333"/>
          </a:bodyPr>
          <a:lstStyle/>
          <a:p>
            <a:pPr algn="l">
              <a:defRPr sz="1350" b="1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Assets/Data</a:t>
            </a:r>
            <a:endParaRPr sz="1350" b="1">
              <a:solidFill>
                <a:srgbClr val="F6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8763000" y="3829050"/>
            <a:ext cx="2114550" cy="64770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defRPr sz="1050" b="0">
                <a:solidFill>
                  <a:srgbClr val="AEB8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AEB8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内容资产目录，支撑横向扩展</a:t>
            </a:r>
            <a:endParaRPr sz="1050" b="0">
              <a:solidFill>
                <a:srgbClr val="AEB8C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2933700" y="2286000"/>
            <a:ext cx="1543050" cy="28575"/>
          </a:xfrm>
          <a:prstGeom prst="rect">
            <a:avLst/>
          </a:prstGeom>
          <a:solidFill>
            <a:srgbClr val="F4C95D"/>
          </a:solidFill>
          <a:ln w="0">
            <a:solidFill>
              <a:srgbClr val="F4C95D"/>
            </a:solidFill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4381500" y="2238375"/>
            <a:ext cx="114300" cy="114300"/>
          </a:xfrm>
          <a:prstGeom prst="rect">
            <a:avLst/>
          </a:prstGeom>
          <a:solidFill>
            <a:srgbClr val="F4C95D"/>
          </a:solidFill>
          <a:ln w="0">
            <a:solidFill>
              <a:srgbClr val="F4C95D"/>
            </a:solidFill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2933700" y="3981450"/>
            <a:ext cx="1543050" cy="28575"/>
          </a:xfrm>
          <a:prstGeom prst="rect">
            <a:avLst/>
          </a:prstGeom>
          <a:solidFill>
            <a:srgbClr val="58D7FF"/>
          </a:solidFill>
          <a:ln w="0">
            <a:solidFill>
              <a:srgbClr val="58D7FF"/>
            </a:solidFill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4381500" y="3933825"/>
            <a:ext cx="114300" cy="114300"/>
          </a:xfrm>
          <a:prstGeom prst="rect">
            <a:avLst/>
          </a:prstGeom>
          <a:solidFill>
            <a:srgbClr val="58D7FF"/>
          </a:solidFill>
          <a:ln w="0">
            <a:solidFill>
              <a:srgbClr val="58D7FF"/>
            </a:solidFill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7143750" y="3028950"/>
            <a:ext cx="1485900" cy="28575"/>
          </a:xfrm>
          <a:prstGeom prst="rect">
            <a:avLst/>
          </a:prstGeom>
          <a:solidFill>
            <a:srgbClr val="74D680"/>
          </a:solidFill>
          <a:ln w="0">
            <a:solidFill>
              <a:srgbClr val="74D680"/>
            </a:solidFill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8534400" y="2981325"/>
            <a:ext cx="114300" cy="114300"/>
          </a:xfrm>
          <a:prstGeom prst="rect">
            <a:avLst/>
          </a:prstGeom>
          <a:solidFill>
            <a:srgbClr val="74D680"/>
          </a:solidFill>
          <a:ln w="0">
            <a:solidFill>
              <a:srgbClr val="74D680"/>
            </a:solidFill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857250" y="5403850"/>
            <a:ext cx="9906000" cy="30480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 fontScale="90000"/>
          </a:bodyPr>
          <a:lstStyle/>
          <a:p>
            <a:pPr algn="l">
              <a:defRPr sz="1500" b="0">
                <a:solidFill>
                  <a:srgbClr val="AEB8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AEB8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核心原则：表现层只承接场景交互，规则层</a:t>
            </a:r>
            <a:r>
              <a:rPr lang="zh-CN" sz="1500" b="0">
                <a:solidFill>
                  <a:srgbClr val="AEB8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包装</a:t>
            </a:r>
            <a:r>
              <a:rPr sz="1500" b="0">
                <a:solidFill>
                  <a:srgbClr val="AEB8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可测试服务，内容层通过 SO 资产配置。</a:t>
            </a:r>
            <a:endParaRPr sz="1500" b="0">
              <a:solidFill>
                <a:srgbClr val="AEB8C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514350" y="247650"/>
            <a:ext cx="4762500" cy="26670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defRPr sz="1125" b="1">
                <a:solidFill>
                  <a:srgbClr val="F4C9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F4C9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地图探索系统</a:t>
            </a:r>
            <a:endParaRPr sz="1125" b="1">
              <a:solidFill>
                <a:srgbClr val="F4C95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76250" y="533400"/>
            <a:ext cx="10668000" cy="59055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defRPr sz="2400" b="1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地图探索系统负责把随机内容组织成可选择的路线压力</a:t>
            </a:r>
            <a:endParaRPr sz="2400" b="1">
              <a:solidFill>
                <a:srgbClr val="F6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476250" y="1162050"/>
            <a:ext cx="11239500" cy="17145"/>
          </a:xfrm>
          <a:prstGeom prst="rect">
            <a:avLst/>
          </a:prstGeom>
          <a:solidFill>
            <a:srgbClr val="34445F"/>
          </a:solidFill>
          <a:ln w="0">
            <a:solidFill>
              <a:srgbClr val="34445F"/>
            </a:solidFill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476250" y="6429375"/>
            <a:ext cx="7239000" cy="20955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 fontScale="89744"/>
          </a:bodyPr>
          <a:lstStyle/>
          <a:p>
            <a:pPr algn="l">
              <a:defRPr sz="975" b="0">
                <a:solidFill>
                  <a:srgbClr val="7F8AA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7F8AA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Mobile Roguelite Turn-Based Game · Unity / Tuanjie 2022.3</a:t>
            </a:r>
            <a:endParaRPr sz="975" b="0">
              <a:solidFill>
                <a:srgbClr val="7F8AA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144250" y="6362700"/>
            <a:ext cx="571500" cy="26670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/>
          </a:bodyPr>
          <a:lstStyle/>
          <a:p>
            <a:pPr algn="r">
              <a:defRPr sz="1200" b="1">
                <a:solidFill>
                  <a:srgbClr val="F4C9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4C9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  <a:endParaRPr sz="1200" b="1">
              <a:solidFill>
                <a:srgbClr val="F4C95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666750" y="1695450"/>
            <a:ext cx="2286000" cy="1200150"/>
          </a:xfrm>
          <a:prstGeom prst="roundRect">
            <a:avLst>
              <a:gd name="adj" fmla="val 6349"/>
            </a:avLst>
          </a:prstGeom>
          <a:solidFill>
            <a:srgbClr val="182133"/>
          </a:solidFill>
          <a:ln w="11430">
            <a:solidFill>
              <a:srgbClr val="F4C95D"/>
            </a:solidFill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800100" y="1809750"/>
            <a:ext cx="2019300" cy="24765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 fontScale="83333"/>
          </a:bodyPr>
          <a:lstStyle/>
          <a:p>
            <a:pPr algn="l">
              <a:defRPr sz="1350" b="1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节点生成</a:t>
            </a:r>
            <a:endParaRPr sz="1350" b="1">
              <a:solidFill>
                <a:srgbClr val="F6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00100" y="2095500"/>
            <a:ext cx="2019300" cy="72390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defRPr sz="1050" b="0">
                <a:solidFill>
                  <a:srgbClr val="AEB8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AEB8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战斗、事件、商店、奖励等节点类型</a:t>
            </a:r>
            <a:endParaRPr sz="1050" b="0">
              <a:solidFill>
                <a:srgbClr val="AEB8C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3524250" y="1695450"/>
            <a:ext cx="2286000" cy="1200150"/>
          </a:xfrm>
          <a:prstGeom prst="roundRect">
            <a:avLst>
              <a:gd name="adj" fmla="val 6349"/>
            </a:avLst>
          </a:prstGeom>
          <a:solidFill>
            <a:srgbClr val="182133"/>
          </a:solidFill>
          <a:ln w="11430">
            <a:solidFill>
              <a:srgbClr val="58D7FF"/>
            </a:solidFill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3657600" y="1809750"/>
            <a:ext cx="2019300" cy="24765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 fontScale="83333"/>
          </a:bodyPr>
          <a:lstStyle/>
          <a:p>
            <a:pPr algn="l">
              <a:defRPr sz="1350" b="1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玩家选择</a:t>
            </a:r>
            <a:endParaRPr sz="1350" b="1">
              <a:solidFill>
                <a:srgbClr val="F6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3657600" y="2095500"/>
            <a:ext cx="2019300" cy="72390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defRPr sz="1050" b="0">
                <a:solidFill>
                  <a:srgbClr val="AEB8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AEB8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路线推进与资源消耗形成分支</a:t>
            </a:r>
            <a:endParaRPr sz="1050" b="0">
              <a:solidFill>
                <a:srgbClr val="AEB8C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6381750" y="1695450"/>
            <a:ext cx="2286000" cy="1200150"/>
          </a:xfrm>
          <a:prstGeom prst="roundRect">
            <a:avLst>
              <a:gd name="adj" fmla="val 6349"/>
            </a:avLst>
          </a:prstGeom>
          <a:solidFill>
            <a:srgbClr val="182133"/>
          </a:solidFill>
          <a:ln w="11430">
            <a:solidFill>
              <a:srgbClr val="74D680"/>
            </a:solidFill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6515100" y="1809750"/>
            <a:ext cx="2019300" cy="24765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 fontScale="83333"/>
          </a:bodyPr>
          <a:lstStyle/>
          <a:p>
            <a:pPr algn="l">
              <a:defRPr sz="1350" b="1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事件反馈</a:t>
            </a:r>
            <a:endParaRPr sz="1350" b="1">
              <a:solidFill>
                <a:srgbClr val="F6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515100" y="2095500"/>
            <a:ext cx="2019300" cy="72390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defRPr sz="1050" b="0">
                <a:solidFill>
                  <a:srgbClr val="AEB8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AEB8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弹窗、奖励、状态变动和场景切换</a:t>
            </a:r>
            <a:endParaRPr sz="1050" b="0">
              <a:solidFill>
                <a:srgbClr val="AEB8C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9239250" y="1695450"/>
            <a:ext cx="2095500" cy="1200150"/>
          </a:xfrm>
          <a:prstGeom prst="roundRect">
            <a:avLst>
              <a:gd name="adj" fmla="val 6349"/>
            </a:avLst>
          </a:prstGeom>
          <a:solidFill>
            <a:srgbClr val="182133"/>
          </a:solidFill>
          <a:ln w="11430">
            <a:solidFill>
              <a:srgbClr val="B69CFF"/>
            </a:solidFill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9372600" y="1809750"/>
            <a:ext cx="1828800" cy="24765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 fontScale="83333"/>
          </a:bodyPr>
          <a:lstStyle/>
          <a:p>
            <a:pPr algn="l">
              <a:defRPr sz="1350" b="1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进入战斗</a:t>
            </a:r>
            <a:endParaRPr sz="1350" b="1">
              <a:solidFill>
                <a:srgbClr val="F6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9372600" y="2095500"/>
            <a:ext cx="1828800" cy="72390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defRPr sz="1050" b="0">
                <a:solidFill>
                  <a:srgbClr val="AEB8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AEB8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将遭遇配置传递给 BattleScene</a:t>
            </a:r>
            <a:endParaRPr sz="1050" b="0">
              <a:solidFill>
                <a:srgbClr val="AEB8C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666750" y="3429000"/>
            <a:ext cx="4762500" cy="1714500"/>
          </a:xfrm>
          <a:prstGeom prst="roundRect">
            <a:avLst>
              <a:gd name="adj" fmla="val 4444"/>
            </a:avLst>
          </a:prstGeom>
          <a:solidFill>
            <a:srgbClr val="151E2D"/>
          </a:solidFill>
          <a:ln w="11430">
            <a:solidFill>
              <a:srgbClr val="34445F"/>
            </a:solidFill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914400" y="3657600"/>
            <a:ext cx="1428750" cy="285750"/>
          </a:xfrm>
          <a:prstGeom prst="rect">
            <a:avLst/>
          </a:prstGeom>
          <a:solidFill>
            <a:srgbClr val="151E2D"/>
          </a:solidFill>
          <a:ln w="0">
            <a:solidFill>
              <a:srgbClr val="151E2D"/>
            </a:solidFill>
          </a:ln>
        </p:spPr>
        <p:txBody>
          <a:bodyPr wrap="square" lIns="57150" tIns="38100" rIns="57150" bIns="38100" anchor="t">
            <a:normAutofit fontScale="83333"/>
          </a:bodyPr>
          <a:lstStyle/>
          <a:p>
            <a:pPr algn="l">
              <a:defRPr sz="1650" b="1">
                <a:solidFill>
                  <a:srgbClr val="F4C9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F4C9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实现重点</a:t>
            </a:r>
            <a:endParaRPr sz="1650" b="1">
              <a:solidFill>
                <a:srgbClr val="F4C95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895350" y="4048125"/>
            <a:ext cx="4000500" cy="819150"/>
          </a:xfrm>
          <a:prstGeom prst="rect">
            <a:avLst/>
          </a:prstGeom>
          <a:solidFill>
            <a:srgbClr val="151E2D"/>
          </a:solidFill>
          <a:ln w="0">
            <a:solidFill>
              <a:srgbClr val="151E2D"/>
            </a:solidFill>
          </a:ln>
        </p:spPr>
        <p:txBody>
          <a:bodyPr wrap="square" lIns="95250" tIns="76200" rIns="95250" bIns="76200" anchor="t">
            <a:normAutofit/>
          </a:bodyPr>
          <a:lstStyle/>
          <a:p>
            <a:pPr algn="l">
              <a:defRPr sz="1350" b="0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地图教程独立服务，降低新手引导对地图流程的侵入</a:t>
            </a:r>
            <a:endParaRPr sz="1350" b="0">
              <a:solidFill>
                <a:srgbClr val="F6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350" b="0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地图事件与经济奖励由数据和共享服务承接</a:t>
            </a:r>
            <a:endParaRPr sz="1350" b="0">
              <a:solidFill>
                <a:srgbClr val="F6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6096000" y="3429000"/>
            <a:ext cx="4762500" cy="1714500"/>
          </a:xfrm>
          <a:prstGeom prst="roundRect">
            <a:avLst>
              <a:gd name="adj" fmla="val 4444"/>
            </a:avLst>
          </a:prstGeom>
          <a:solidFill>
            <a:srgbClr val="121A28"/>
          </a:solidFill>
          <a:ln w="11430">
            <a:solidFill>
              <a:srgbClr val="34445F"/>
            </a:solidFill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6248400" y="3524250"/>
            <a:ext cx="4457700" cy="209550"/>
          </a:xfrm>
          <a:prstGeom prst="rect">
            <a:avLst/>
          </a:prstGeom>
          <a:solidFill>
            <a:srgbClr val="121A28"/>
          </a:solidFill>
          <a:ln w="0">
            <a:solidFill>
              <a:srgbClr val="121A28"/>
            </a:solidFill>
          </a:ln>
        </p:spPr>
        <p:txBody>
          <a:bodyPr wrap="square" lIns="57150" tIns="38100" rIns="57150" bIns="38100" anchor="t">
            <a:normAutofit fontScale="89744"/>
          </a:bodyPr>
          <a:lstStyle/>
          <a:p>
            <a:pPr algn="l">
              <a:defRPr sz="975" b="1">
                <a:solidFill>
                  <a:srgbClr val="F4C9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F4C9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MapScene evidence</a:t>
            </a:r>
            <a:endParaRPr sz="975" b="1">
              <a:solidFill>
                <a:srgbClr val="F4C95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6267450" y="3829050"/>
            <a:ext cx="4419600" cy="1200150"/>
          </a:xfrm>
          <a:prstGeom prst="rect">
            <a:avLst/>
          </a:prstGeom>
          <a:solidFill>
            <a:srgbClr val="121A28"/>
          </a:solidFill>
          <a:ln w="0">
            <a:solidFill>
              <a:srgbClr val="121A28"/>
            </a:solidFill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050" b="0">
                <a:solidFill>
                  <a:srgbClr val="DCE6F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50" b="0">
                <a:solidFill>
                  <a:srgbClr val="DCE6F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MapEventOverlay.cs</a:t>
            </a:r>
            <a:endParaRPr sz="1050" b="0">
              <a:solidFill>
                <a:srgbClr val="DCE6F5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050" b="0">
                <a:solidFill>
                  <a:srgbClr val="DCE6F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50" b="0">
                <a:solidFill>
                  <a:srgbClr val="DCE6F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MapTutorialFlowService.cs</a:t>
            </a:r>
            <a:endParaRPr sz="1050" b="0">
              <a:solidFill>
                <a:srgbClr val="DCE6F5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050" b="0">
                <a:solidFill>
                  <a:srgbClr val="DCE6F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50" b="0">
                <a:solidFill>
                  <a:srgbClr val="DCE6F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MapTutorialGuideOverlay.cs</a:t>
            </a:r>
            <a:endParaRPr sz="1050" b="0">
              <a:solidFill>
                <a:srgbClr val="DCE6F5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050" b="0">
                <a:solidFill>
                  <a:srgbClr val="DCE6F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50" b="0">
                <a:solidFill>
                  <a:srgbClr val="DCE6F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MapTutorialMerchantStockService.cs</a:t>
            </a:r>
            <a:endParaRPr sz="1050" b="0">
              <a:solidFill>
                <a:srgbClr val="DCE6F5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514350" y="247650"/>
            <a:ext cx="4762500" cy="26670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defRPr sz="1125" b="1">
                <a:solidFill>
                  <a:srgbClr val="F4C9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F4C9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 回合战斗系统</a:t>
            </a:r>
            <a:endParaRPr sz="1125" b="1">
              <a:solidFill>
                <a:srgbClr val="F4C95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76250" y="533400"/>
            <a:ext cx="10668000" cy="59055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defRPr sz="2400" b="1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回合战斗系统用阶段调度把规则计算和表现播放解耦</a:t>
            </a:r>
            <a:endParaRPr sz="2400" b="1">
              <a:solidFill>
                <a:srgbClr val="F6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476250" y="1162050"/>
            <a:ext cx="11239500" cy="17145"/>
          </a:xfrm>
          <a:prstGeom prst="rect">
            <a:avLst/>
          </a:prstGeom>
          <a:solidFill>
            <a:srgbClr val="34445F"/>
          </a:solidFill>
          <a:ln w="0">
            <a:solidFill>
              <a:srgbClr val="34445F"/>
            </a:solidFill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476250" y="6429375"/>
            <a:ext cx="7239000" cy="20955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 fontScale="89744"/>
          </a:bodyPr>
          <a:lstStyle/>
          <a:p>
            <a:pPr algn="l">
              <a:defRPr sz="975" b="0">
                <a:solidFill>
                  <a:srgbClr val="7F8AA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7F8AA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Mobile Roguelite Turn-Based Game · Unity / Tuanjie 2022.3</a:t>
            </a:r>
            <a:endParaRPr sz="975" b="0">
              <a:solidFill>
                <a:srgbClr val="7F8AA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144250" y="6362700"/>
            <a:ext cx="571500" cy="26670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/>
          </a:bodyPr>
          <a:lstStyle/>
          <a:p>
            <a:pPr algn="r">
              <a:defRPr sz="1200" b="1">
                <a:solidFill>
                  <a:srgbClr val="F4C9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4C9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</a:t>
            </a:r>
            <a:endParaRPr sz="1200" b="1">
              <a:solidFill>
                <a:srgbClr val="F4C95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704850" y="1885950"/>
            <a:ext cx="2095500" cy="1162050"/>
          </a:xfrm>
          <a:prstGeom prst="roundRect">
            <a:avLst>
              <a:gd name="adj" fmla="val 6557"/>
            </a:avLst>
          </a:prstGeom>
          <a:solidFill>
            <a:srgbClr val="182133"/>
          </a:solidFill>
          <a:ln w="11430">
            <a:solidFill>
              <a:srgbClr val="F4C95D"/>
            </a:solidFill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838200" y="2000250"/>
            <a:ext cx="1828800" cy="24765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 fontScale="83333"/>
          </a:bodyPr>
          <a:lstStyle/>
          <a:p>
            <a:pPr algn="l">
              <a:defRPr sz="1350" b="1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回合开始</a:t>
            </a:r>
            <a:endParaRPr sz="1350" b="1">
              <a:solidFill>
                <a:srgbClr val="F6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38200" y="2286000"/>
            <a:ext cx="1828800" cy="68580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defRPr sz="1050" b="0">
                <a:solidFill>
                  <a:srgbClr val="AEB8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AEB8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状态结算、遗物触发、速度生成</a:t>
            </a:r>
            <a:endParaRPr sz="1050" b="0">
              <a:solidFill>
                <a:srgbClr val="AEB8C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3295650" y="1885950"/>
            <a:ext cx="2095500" cy="1162050"/>
          </a:xfrm>
          <a:prstGeom prst="roundRect">
            <a:avLst>
              <a:gd name="adj" fmla="val 6557"/>
            </a:avLst>
          </a:prstGeom>
          <a:solidFill>
            <a:srgbClr val="182133"/>
          </a:solidFill>
          <a:ln w="11430">
            <a:solidFill>
              <a:srgbClr val="58D7FF"/>
            </a:solidFill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3429000" y="2000250"/>
            <a:ext cx="1828800" cy="24765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 fontScale="83333"/>
          </a:bodyPr>
          <a:lstStyle/>
          <a:p>
            <a:pPr algn="l">
              <a:defRPr sz="1350" b="1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行动收集</a:t>
            </a:r>
            <a:endParaRPr sz="1350" b="1">
              <a:solidFill>
                <a:srgbClr val="F6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3429000" y="2286000"/>
            <a:ext cx="1828800" cy="68580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defRPr sz="1050" b="0">
                <a:solidFill>
                  <a:srgbClr val="AEB8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AEB8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按钮、目标、技能与敌方意图</a:t>
            </a:r>
            <a:endParaRPr sz="1050" b="0">
              <a:solidFill>
                <a:srgbClr val="AEB8C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5886450" y="1885950"/>
            <a:ext cx="2095500" cy="1162050"/>
          </a:xfrm>
          <a:prstGeom prst="roundRect">
            <a:avLst>
              <a:gd name="adj" fmla="val 6557"/>
            </a:avLst>
          </a:prstGeom>
          <a:solidFill>
            <a:srgbClr val="182133"/>
          </a:solidFill>
          <a:ln w="11430">
            <a:solidFill>
              <a:srgbClr val="74D680"/>
            </a:solidFill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6019800" y="2000250"/>
            <a:ext cx="1828800" cy="24765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 fontScale="83333"/>
          </a:bodyPr>
          <a:lstStyle/>
          <a:p>
            <a:pPr algn="l">
              <a:defRPr sz="1350" b="1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结果解析</a:t>
            </a:r>
            <a:endParaRPr sz="1350" b="1">
              <a:solidFill>
                <a:srgbClr val="F6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019800" y="2286000"/>
            <a:ext cx="1828800" cy="68580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defRPr sz="1050" b="0">
                <a:solidFill>
                  <a:srgbClr val="AEB8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AEB8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命中、伤害、状态、召唤和死亡</a:t>
            </a:r>
            <a:endParaRPr sz="1050" b="0">
              <a:solidFill>
                <a:srgbClr val="AEB8C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8477250" y="1885950"/>
            <a:ext cx="2095500" cy="1162050"/>
          </a:xfrm>
          <a:prstGeom prst="roundRect">
            <a:avLst>
              <a:gd name="adj" fmla="val 6557"/>
            </a:avLst>
          </a:prstGeom>
          <a:solidFill>
            <a:srgbClr val="182133"/>
          </a:solidFill>
          <a:ln w="11430">
            <a:solidFill>
              <a:srgbClr val="B69CFF"/>
            </a:solidFill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8610600" y="2000250"/>
            <a:ext cx="1828800" cy="24765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 fontScale="83333"/>
          </a:bodyPr>
          <a:lstStyle/>
          <a:p>
            <a:pPr algn="l">
              <a:defRPr sz="1350" b="1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表现计划</a:t>
            </a:r>
            <a:endParaRPr sz="1350" b="1">
              <a:solidFill>
                <a:srgbClr val="F6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610600" y="2286000"/>
            <a:ext cx="1828800" cy="68580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defRPr sz="1050" b="0">
                <a:solidFill>
                  <a:srgbClr val="AEB8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AEB8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动画、飘字、UI 刷新与收尾</a:t>
            </a:r>
            <a:endParaRPr sz="1050" b="0">
              <a:solidFill>
                <a:srgbClr val="AEB8C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2800350" y="2457450"/>
            <a:ext cx="495300" cy="28575"/>
          </a:xfrm>
          <a:prstGeom prst="rect">
            <a:avLst/>
          </a:prstGeom>
          <a:solidFill>
            <a:srgbClr val="F4C95D"/>
          </a:solidFill>
          <a:ln w="0">
            <a:solidFill>
              <a:srgbClr val="F4C95D"/>
            </a:solidFill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3200400" y="2409825"/>
            <a:ext cx="114300" cy="114300"/>
          </a:xfrm>
          <a:prstGeom prst="rect">
            <a:avLst/>
          </a:prstGeom>
          <a:solidFill>
            <a:srgbClr val="F4C95D"/>
          </a:solidFill>
          <a:ln w="0">
            <a:solidFill>
              <a:srgbClr val="F4C95D"/>
            </a:solidFill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5391150" y="2457450"/>
            <a:ext cx="495300" cy="28575"/>
          </a:xfrm>
          <a:prstGeom prst="rect">
            <a:avLst/>
          </a:prstGeom>
          <a:solidFill>
            <a:srgbClr val="58D7FF"/>
          </a:solidFill>
          <a:ln w="0">
            <a:solidFill>
              <a:srgbClr val="58D7FF"/>
            </a:solidFill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5791200" y="2409825"/>
            <a:ext cx="114300" cy="114300"/>
          </a:xfrm>
          <a:prstGeom prst="rect">
            <a:avLst/>
          </a:prstGeom>
          <a:solidFill>
            <a:srgbClr val="58D7FF"/>
          </a:solidFill>
          <a:ln w="0">
            <a:solidFill>
              <a:srgbClr val="58D7FF"/>
            </a:solidFill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7981950" y="2457450"/>
            <a:ext cx="495300" cy="28575"/>
          </a:xfrm>
          <a:prstGeom prst="rect">
            <a:avLst/>
          </a:prstGeom>
          <a:solidFill>
            <a:srgbClr val="74D680"/>
          </a:solidFill>
          <a:ln w="0">
            <a:solidFill>
              <a:srgbClr val="74D680"/>
            </a:solidFill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8382000" y="2409825"/>
            <a:ext cx="114300" cy="114300"/>
          </a:xfrm>
          <a:prstGeom prst="rect">
            <a:avLst/>
          </a:prstGeom>
          <a:solidFill>
            <a:srgbClr val="74D680"/>
          </a:solidFill>
          <a:ln w="0">
            <a:solidFill>
              <a:srgbClr val="74D680"/>
            </a:solidFill>
          </a:ln>
        </p:spPr>
      </p:sp>
      <p:sp>
        <p:nvSpPr>
          <p:cNvPr id="26" name="圆角矩形 25"/>
          <p:cNvSpPr>
            <a:spLocks noGrp="1"/>
          </p:cNvSpPr>
          <p:nvPr/>
        </p:nvSpPr>
        <p:spPr>
          <a:xfrm>
            <a:off x="742950" y="3714750"/>
            <a:ext cx="4476750" cy="1428750"/>
          </a:xfrm>
          <a:prstGeom prst="roundRect">
            <a:avLst>
              <a:gd name="adj" fmla="val 5333"/>
            </a:avLst>
          </a:prstGeom>
          <a:solidFill>
            <a:srgbClr val="151E2D"/>
          </a:solidFill>
          <a:ln w="11430">
            <a:solidFill>
              <a:srgbClr val="34445F"/>
            </a:solidFill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971550" y="3943350"/>
            <a:ext cx="2476500" cy="285750"/>
          </a:xfrm>
          <a:prstGeom prst="rect">
            <a:avLst/>
          </a:prstGeom>
          <a:solidFill>
            <a:srgbClr val="151E2D"/>
          </a:solidFill>
          <a:ln w="0">
            <a:solidFill>
              <a:srgbClr val="151E2D"/>
            </a:solidFill>
          </a:ln>
        </p:spPr>
        <p:txBody>
          <a:bodyPr wrap="square" lIns="57150" tIns="38100" rIns="57150" bIns="38100" anchor="t">
            <a:normAutofit fontScale="83333"/>
          </a:bodyPr>
          <a:lstStyle/>
          <a:p>
            <a:pPr algn="l">
              <a:defRPr sz="1650" b="1">
                <a:solidFill>
                  <a:srgbClr val="58D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58D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战斗可维护性的来源</a:t>
            </a:r>
            <a:endParaRPr sz="1650" b="1">
              <a:solidFill>
                <a:srgbClr val="58D7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952500" y="4324350"/>
            <a:ext cx="3714750" cy="609600"/>
          </a:xfrm>
          <a:prstGeom prst="rect">
            <a:avLst/>
          </a:prstGeom>
          <a:solidFill>
            <a:srgbClr val="151E2D"/>
          </a:solidFill>
          <a:ln w="0">
            <a:solidFill>
              <a:srgbClr val="151E2D"/>
            </a:solidFill>
          </a:ln>
        </p:spPr>
        <p:txBody>
          <a:bodyPr wrap="square" lIns="95250" tIns="76200" rIns="95250" bIns="76200" anchor="t">
            <a:normAutofit fontScale="74074"/>
          </a:bodyPr>
          <a:lstStyle/>
          <a:p>
            <a:pPr algn="l">
              <a:defRPr sz="1350" b="0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计算服务独立于 Unity 表现对象</a:t>
            </a:r>
            <a:endParaRPr sz="1350" b="0">
              <a:solidFill>
                <a:srgbClr val="F6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350" b="0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阶段计划先生成，再由控制器播放</a:t>
            </a:r>
            <a:endParaRPr sz="1350" b="0">
              <a:solidFill>
                <a:srgbClr val="F6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350" b="0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测试可以直接覆盖 Shared 规则</a:t>
            </a:r>
            <a:endParaRPr sz="1350" b="0">
              <a:solidFill>
                <a:srgbClr val="F6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圆角矩形 28"/>
          <p:cNvSpPr>
            <a:spLocks noGrp="1"/>
          </p:cNvSpPr>
          <p:nvPr/>
        </p:nvSpPr>
        <p:spPr>
          <a:xfrm>
            <a:off x="5905500" y="3714750"/>
            <a:ext cx="4953000" cy="1428750"/>
          </a:xfrm>
          <a:prstGeom prst="roundRect">
            <a:avLst>
              <a:gd name="adj" fmla="val 5333"/>
            </a:avLst>
          </a:prstGeom>
          <a:solidFill>
            <a:srgbClr val="121A28"/>
          </a:solidFill>
          <a:ln w="11430">
            <a:solidFill>
              <a:srgbClr val="34445F"/>
            </a:solidFill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6057900" y="3810000"/>
            <a:ext cx="4648200" cy="209550"/>
          </a:xfrm>
          <a:prstGeom prst="rect">
            <a:avLst/>
          </a:prstGeom>
          <a:solidFill>
            <a:srgbClr val="121A28"/>
          </a:solidFill>
          <a:ln w="0">
            <a:solidFill>
              <a:srgbClr val="121A28"/>
            </a:solidFill>
          </a:ln>
        </p:spPr>
        <p:txBody>
          <a:bodyPr wrap="square" lIns="57150" tIns="38100" rIns="57150" bIns="38100" anchor="t">
            <a:normAutofit fontScale="89744"/>
          </a:bodyPr>
          <a:lstStyle/>
          <a:p>
            <a:pPr algn="l">
              <a:defRPr sz="975" b="1">
                <a:solidFill>
                  <a:srgbClr val="F4C9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F4C9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Shared combat services</a:t>
            </a:r>
            <a:endParaRPr sz="975" b="1">
              <a:solidFill>
                <a:srgbClr val="F4C95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6076950" y="4114800"/>
            <a:ext cx="4610100" cy="914400"/>
          </a:xfrm>
          <a:prstGeom prst="rect">
            <a:avLst/>
          </a:prstGeom>
          <a:solidFill>
            <a:srgbClr val="121A28"/>
          </a:solidFill>
          <a:ln w="0">
            <a:solidFill>
              <a:srgbClr val="121A28"/>
            </a:solidFill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050" b="0">
                <a:solidFill>
                  <a:srgbClr val="DCE6F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50" b="0">
                <a:solidFill>
                  <a:srgbClr val="DCE6F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BattleCombatActionCollectorService.cs</a:t>
            </a:r>
            <a:endParaRPr sz="1050" b="0">
              <a:solidFill>
                <a:srgbClr val="DCE6F5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050" b="0">
                <a:solidFill>
                  <a:srgbClr val="DCE6F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50" b="0">
                <a:solidFill>
                  <a:srgbClr val="DCE6F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BattleCombatActionExecutionDispatcher.cs</a:t>
            </a:r>
            <a:endParaRPr sz="1050" b="0">
              <a:solidFill>
                <a:srgbClr val="DCE6F5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050" b="0">
                <a:solidFill>
                  <a:srgbClr val="DCE6F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50" b="0">
                <a:solidFill>
                  <a:srgbClr val="DCE6F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BattleCombatPhaseCompletionPlanService.cs</a:t>
            </a:r>
            <a:endParaRPr sz="1050" b="0">
              <a:solidFill>
                <a:srgbClr val="DCE6F5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050" b="0">
                <a:solidFill>
                  <a:srgbClr val="DCE6F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50" b="0">
                <a:solidFill>
                  <a:srgbClr val="DCE6F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BattleClashResultService.cs</a:t>
            </a:r>
            <a:endParaRPr sz="1050" b="0">
              <a:solidFill>
                <a:srgbClr val="DCE6F5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514350" y="247650"/>
            <a:ext cx="4762500" cy="26670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defRPr sz="1125" b="1">
                <a:solidFill>
                  <a:srgbClr val="F4C9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F4C9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 速度骰 / 技能系统</a:t>
            </a:r>
            <a:endParaRPr sz="1125" b="1">
              <a:solidFill>
                <a:srgbClr val="F4C95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76250" y="533400"/>
            <a:ext cx="10668000" cy="59055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defRPr sz="2400" b="1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速度骰和技能系统把战斗选择转化为可计算的行动窗口</a:t>
            </a:r>
            <a:endParaRPr sz="2400" b="1">
              <a:solidFill>
                <a:srgbClr val="F6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476250" y="1162050"/>
            <a:ext cx="11239500" cy="17145"/>
          </a:xfrm>
          <a:prstGeom prst="rect">
            <a:avLst/>
          </a:prstGeom>
          <a:solidFill>
            <a:srgbClr val="34445F"/>
          </a:solidFill>
          <a:ln w="0">
            <a:solidFill>
              <a:srgbClr val="34445F"/>
            </a:solidFill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476250" y="6429375"/>
            <a:ext cx="7239000" cy="20955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 fontScale="89744"/>
          </a:bodyPr>
          <a:lstStyle/>
          <a:p>
            <a:pPr algn="l">
              <a:defRPr sz="975" b="0">
                <a:solidFill>
                  <a:srgbClr val="7F8AA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7F8AA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Mobile Roguelite Turn-Based Game · Unity / Tuanjie 2022.3</a:t>
            </a:r>
            <a:endParaRPr sz="975" b="0">
              <a:solidFill>
                <a:srgbClr val="7F8AA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144250" y="6362700"/>
            <a:ext cx="571500" cy="26670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/>
          </a:bodyPr>
          <a:lstStyle/>
          <a:p>
            <a:pPr algn="r">
              <a:defRPr sz="1200" b="1">
                <a:solidFill>
                  <a:srgbClr val="F4C9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4C9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07</a:t>
            </a:r>
            <a:endParaRPr sz="1200" b="1">
              <a:solidFill>
                <a:srgbClr val="F4C95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742950" y="1714500"/>
            <a:ext cx="2190750" cy="1123950"/>
          </a:xfrm>
          <a:prstGeom prst="roundRect">
            <a:avLst>
              <a:gd name="adj" fmla="val 6780"/>
            </a:avLst>
          </a:prstGeom>
          <a:solidFill>
            <a:srgbClr val="182133"/>
          </a:solidFill>
          <a:ln w="11430">
            <a:solidFill>
              <a:srgbClr val="F4C95D"/>
            </a:solidFill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876300" y="1828800"/>
            <a:ext cx="1924050" cy="24765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 fontScale="83333"/>
          </a:bodyPr>
          <a:lstStyle/>
          <a:p>
            <a:pPr algn="l">
              <a:defRPr sz="1350" b="1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基础速度</a:t>
            </a:r>
            <a:endParaRPr sz="1350" b="1">
              <a:solidFill>
                <a:srgbClr val="F6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76300" y="2114550"/>
            <a:ext cx="1924050" cy="64770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defRPr sz="1050" b="0">
                <a:solidFill>
                  <a:srgbClr val="AEB8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AEB8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角色、敌人和状态提供速度来源</a:t>
            </a:r>
            <a:endParaRPr sz="1050" b="0">
              <a:solidFill>
                <a:srgbClr val="AEB8C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3695700" y="1714500"/>
            <a:ext cx="2286000" cy="1123950"/>
          </a:xfrm>
          <a:prstGeom prst="roundRect">
            <a:avLst>
              <a:gd name="adj" fmla="val 6780"/>
            </a:avLst>
          </a:prstGeom>
          <a:solidFill>
            <a:srgbClr val="182133"/>
          </a:solidFill>
          <a:ln w="11430">
            <a:solidFill>
              <a:srgbClr val="58D7FF"/>
            </a:solidFill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3829050" y="1828800"/>
            <a:ext cx="2019300" cy="24765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 fontScale="83333"/>
          </a:bodyPr>
          <a:lstStyle/>
          <a:p>
            <a:pPr algn="l">
              <a:defRPr sz="1350" b="1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骰子修正</a:t>
            </a:r>
            <a:endParaRPr sz="1350" b="1">
              <a:solidFill>
                <a:srgbClr val="F6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3829050" y="2114550"/>
            <a:ext cx="2019300" cy="64770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defRPr sz="1050" b="0">
                <a:solidFill>
                  <a:srgbClr val="AEB8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AEB8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遗物与状态改变骰子范围或点数</a:t>
            </a:r>
            <a:endParaRPr sz="1050" b="0">
              <a:solidFill>
                <a:srgbClr val="AEB8C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6743700" y="1714500"/>
            <a:ext cx="2667000" cy="1123950"/>
          </a:xfrm>
          <a:prstGeom prst="roundRect">
            <a:avLst>
              <a:gd name="adj" fmla="val 6780"/>
            </a:avLst>
          </a:prstGeom>
          <a:solidFill>
            <a:srgbClr val="182133"/>
          </a:solidFill>
          <a:ln w="11430">
            <a:solidFill>
              <a:srgbClr val="74D680"/>
            </a:solidFill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6877050" y="1828800"/>
            <a:ext cx="2400300" cy="24765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 fontScale="83333"/>
          </a:bodyPr>
          <a:lstStyle/>
          <a:p>
            <a:pPr algn="l">
              <a:defRPr sz="1350" b="1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按钮可用性</a:t>
            </a:r>
            <a:endParaRPr sz="1350" b="1">
              <a:solidFill>
                <a:srgbClr val="F6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877050" y="2114550"/>
            <a:ext cx="2400300" cy="64770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defRPr sz="1050" b="0">
                <a:solidFill>
                  <a:srgbClr val="AEB8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AEB8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能量、目标、速度按钮状态决定可行动作</a:t>
            </a:r>
            <a:endParaRPr sz="1050" b="0">
              <a:solidFill>
                <a:srgbClr val="AEB8C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2933700" y="2266950"/>
            <a:ext cx="762000" cy="28575"/>
          </a:xfrm>
          <a:prstGeom prst="rect">
            <a:avLst/>
          </a:prstGeom>
          <a:solidFill>
            <a:srgbClr val="F4C95D"/>
          </a:solidFill>
          <a:ln w="0">
            <a:solidFill>
              <a:srgbClr val="F4C95D"/>
            </a:solidFill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3600450" y="2219325"/>
            <a:ext cx="114300" cy="114300"/>
          </a:xfrm>
          <a:prstGeom prst="rect">
            <a:avLst/>
          </a:prstGeom>
          <a:solidFill>
            <a:srgbClr val="F4C95D"/>
          </a:solidFill>
          <a:ln w="0">
            <a:solidFill>
              <a:srgbClr val="F4C95D"/>
            </a:solidFill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5981700" y="2266950"/>
            <a:ext cx="762000" cy="28575"/>
          </a:xfrm>
          <a:prstGeom prst="rect">
            <a:avLst/>
          </a:prstGeom>
          <a:solidFill>
            <a:srgbClr val="58D7FF"/>
          </a:solidFill>
          <a:ln w="0">
            <a:solidFill>
              <a:srgbClr val="58D7FF"/>
            </a:solidFill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6648450" y="2219325"/>
            <a:ext cx="114300" cy="114300"/>
          </a:xfrm>
          <a:prstGeom prst="rect">
            <a:avLst/>
          </a:prstGeom>
          <a:solidFill>
            <a:srgbClr val="58D7FF"/>
          </a:solidFill>
          <a:ln w="0">
            <a:solidFill>
              <a:srgbClr val="58D7FF"/>
            </a:solidFill>
          </a:ln>
        </p:spPr>
      </p:sp>
      <p:sp>
        <p:nvSpPr>
          <p:cNvPr id="21" name="圆角矩形 20"/>
          <p:cNvSpPr>
            <a:spLocks noGrp="1"/>
          </p:cNvSpPr>
          <p:nvPr/>
        </p:nvSpPr>
        <p:spPr>
          <a:xfrm>
            <a:off x="838200" y="3714750"/>
            <a:ext cx="1714500" cy="952500"/>
          </a:xfrm>
          <a:prstGeom prst="roundRect">
            <a:avLst>
              <a:gd name="adj" fmla="val 8000"/>
            </a:avLst>
          </a:prstGeom>
          <a:solidFill>
            <a:srgbClr val="182133"/>
          </a:solidFill>
          <a:ln w="11430">
            <a:solidFill>
              <a:srgbClr val="34445F"/>
            </a:solidFill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990600" y="3886200"/>
            <a:ext cx="1409700" cy="38100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 fontScale="88889"/>
          </a:bodyPr>
          <a:lstStyle/>
          <a:p>
            <a:pPr algn="l">
              <a:defRPr sz="2250" b="1">
                <a:solidFill>
                  <a:srgbClr val="F4C9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F4C9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21</a:t>
            </a:r>
            <a:endParaRPr sz="2250" b="1">
              <a:solidFill>
                <a:srgbClr val="F4C95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990600" y="4267200"/>
            <a:ext cx="1409700" cy="28575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defRPr sz="1125" b="0">
                <a:solidFill>
                  <a:srgbClr val="AEB8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AEB8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武器目录</a:t>
            </a:r>
            <a:endParaRPr sz="1125" b="0">
              <a:solidFill>
                <a:srgbClr val="AEB8C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圆角矩形 23"/>
          <p:cNvSpPr>
            <a:spLocks noGrp="1"/>
          </p:cNvSpPr>
          <p:nvPr/>
        </p:nvSpPr>
        <p:spPr>
          <a:xfrm>
            <a:off x="2857500" y="3714750"/>
            <a:ext cx="2000250" cy="952500"/>
          </a:xfrm>
          <a:prstGeom prst="roundRect">
            <a:avLst>
              <a:gd name="adj" fmla="val 8000"/>
            </a:avLst>
          </a:prstGeom>
          <a:solidFill>
            <a:srgbClr val="182133"/>
          </a:solidFill>
          <a:ln w="11430">
            <a:solidFill>
              <a:srgbClr val="34445F"/>
            </a:solidFill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3009900" y="3886200"/>
            <a:ext cx="1695450" cy="38100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 fontScale="88889"/>
          </a:bodyPr>
          <a:lstStyle/>
          <a:p>
            <a:pPr algn="l">
              <a:defRPr sz="2250" b="1">
                <a:solidFill>
                  <a:srgbClr val="58D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58D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89</a:t>
            </a:r>
            <a:endParaRPr sz="2250" b="1">
              <a:solidFill>
                <a:srgbClr val="58D7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3009900" y="4267200"/>
            <a:ext cx="1695450" cy="28575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defRPr sz="1125" b="0">
                <a:solidFill>
                  <a:srgbClr val="AEB8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AEB8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武器 asset 文件</a:t>
            </a:r>
            <a:endParaRPr sz="1125" b="0">
              <a:solidFill>
                <a:srgbClr val="AEB8C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圆角矩形 26"/>
          <p:cNvSpPr>
            <a:spLocks noGrp="1"/>
          </p:cNvSpPr>
          <p:nvPr/>
        </p:nvSpPr>
        <p:spPr>
          <a:xfrm>
            <a:off x="5162550" y="3714750"/>
            <a:ext cx="2286000" cy="952500"/>
          </a:xfrm>
          <a:prstGeom prst="roundRect">
            <a:avLst>
              <a:gd name="adj" fmla="val 8000"/>
            </a:avLst>
          </a:prstGeom>
          <a:solidFill>
            <a:srgbClr val="182133"/>
          </a:solidFill>
          <a:ln w="11430">
            <a:solidFill>
              <a:srgbClr val="34445F"/>
            </a:solidFill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5314950" y="3886200"/>
            <a:ext cx="1981200" cy="38100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 fontScale="88889"/>
          </a:bodyPr>
          <a:lstStyle/>
          <a:p>
            <a:pPr algn="l">
              <a:defRPr sz="2250" b="1">
                <a:solidFill>
                  <a:srgbClr val="74D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74D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Dice</a:t>
            </a:r>
            <a:endParaRPr sz="2250" b="1">
              <a:solidFill>
                <a:srgbClr val="74D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5314950" y="4267200"/>
            <a:ext cx="1981200" cy="28575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defRPr sz="1125" b="0">
                <a:solidFill>
                  <a:srgbClr val="AEB8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AEB8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规则服务独立测试</a:t>
            </a:r>
            <a:endParaRPr sz="1125" b="0">
              <a:solidFill>
                <a:srgbClr val="AEB8C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7810500" y="3581400"/>
            <a:ext cx="3143250" cy="123825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95250" tIns="76200" rIns="95250" bIns="76200" anchor="t">
            <a:normAutofit fontScale="88125"/>
          </a:bodyPr>
          <a:lstStyle/>
          <a:p>
            <a:pPr algn="l">
              <a:defRPr sz="1350" b="0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速度不是单一数值，而是影响回合内行动槽位</a:t>
            </a:r>
            <a:endParaRPr sz="1350" b="0">
              <a:solidFill>
                <a:srgbClr val="F6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350" b="0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技能通过目标和效果标签进入统一解析流程</a:t>
            </a:r>
            <a:endParaRPr sz="1350" b="0">
              <a:solidFill>
                <a:srgbClr val="F6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350" b="0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遗物可以在骰子生成前后插入规则修改</a:t>
            </a:r>
            <a:endParaRPr sz="1350" b="0">
              <a:solidFill>
                <a:srgbClr val="F6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圆角矩形 30"/>
          <p:cNvSpPr>
            <a:spLocks noGrp="1"/>
          </p:cNvSpPr>
          <p:nvPr/>
        </p:nvSpPr>
        <p:spPr>
          <a:xfrm>
            <a:off x="952500" y="5143500"/>
            <a:ext cx="9906000" cy="914400"/>
          </a:xfrm>
          <a:prstGeom prst="roundRect">
            <a:avLst>
              <a:gd name="adj" fmla="val 8333"/>
            </a:avLst>
          </a:prstGeom>
          <a:solidFill>
            <a:srgbClr val="121A28"/>
          </a:solidFill>
          <a:ln w="11430">
            <a:solidFill>
              <a:srgbClr val="34445F"/>
            </a:solidFill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1104900" y="5238750"/>
            <a:ext cx="9601200" cy="209550"/>
          </a:xfrm>
          <a:prstGeom prst="rect">
            <a:avLst/>
          </a:prstGeom>
          <a:solidFill>
            <a:srgbClr val="121A28"/>
          </a:solidFill>
          <a:ln w="0">
            <a:solidFill>
              <a:srgbClr val="121A28"/>
            </a:solidFill>
          </a:ln>
        </p:spPr>
        <p:txBody>
          <a:bodyPr wrap="square" lIns="57150" tIns="38100" rIns="57150" bIns="38100" anchor="t">
            <a:normAutofit fontScale="89744"/>
          </a:bodyPr>
          <a:lstStyle/>
          <a:p>
            <a:pPr algn="l">
              <a:defRPr sz="975" b="1">
                <a:solidFill>
                  <a:srgbClr val="F4C9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F4C9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Dice / skill services</a:t>
            </a:r>
            <a:endParaRPr sz="975" b="1">
              <a:solidFill>
                <a:srgbClr val="F4C95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1123950" y="5543550"/>
            <a:ext cx="9563100" cy="400050"/>
          </a:xfrm>
          <a:prstGeom prst="rect">
            <a:avLst/>
          </a:prstGeom>
          <a:solidFill>
            <a:srgbClr val="121A28"/>
          </a:solidFill>
          <a:ln w="0">
            <a:solidFill>
              <a:srgbClr val="121A28"/>
            </a:solidFill>
          </a:ln>
        </p:spPr>
        <p:txBody>
          <a:bodyPr wrap="square" lIns="19050" tIns="19050" rIns="19050" bIns="19050" anchor="t">
            <a:normAutofit fontScale="56548"/>
          </a:bodyPr>
          <a:lstStyle/>
          <a:p>
            <a:pPr algn="l">
              <a:defRPr sz="1050" b="0">
                <a:solidFill>
                  <a:srgbClr val="DCE6F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50" b="0">
                <a:solidFill>
                  <a:srgbClr val="DCE6F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BattleDiceRollService.cs</a:t>
            </a:r>
            <a:endParaRPr sz="1050" b="0">
              <a:solidFill>
                <a:srgbClr val="DCE6F5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050" b="0">
                <a:solidFill>
                  <a:srgbClr val="DCE6F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50" b="0">
                <a:solidFill>
                  <a:srgbClr val="DCE6F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BattleDiceRangeModifierService.cs</a:t>
            </a:r>
            <a:endParaRPr sz="1050" b="0">
              <a:solidFill>
                <a:srgbClr val="DCE6F5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050" b="0">
                <a:solidFill>
                  <a:srgbClr val="DCE6F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50" b="0">
                <a:solidFill>
                  <a:srgbClr val="DCE6F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BattleDicePowerPreparationService.cs</a:t>
            </a:r>
            <a:endParaRPr sz="1050" b="0">
              <a:solidFill>
                <a:srgbClr val="DCE6F5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050" b="0">
                <a:solidFill>
                  <a:srgbClr val="DCE6F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50" b="0">
                <a:solidFill>
                  <a:srgbClr val="DCE6F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BattleAllySkillEnergyAvailabilityService.cs</a:t>
            </a:r>
            <a:endParaRPr sz="1050" b="0">
              <a:solidFill>
                <a:srgbClr val="DCE6F5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514350" y="247650"/>
            <a:ext cx="4762500" cy="26670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defRPr sz="1125" b="1">
                <a:solidFill>
                  <a:srgbClr val="F4C9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F4C9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07 遗物与状态系统</a:t>
            </a:r>
            <a:endParaRPr sz="1125" b="1">
              <a:solidFill>
                <a:srgbClr val="F4C95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76250" y="533400"/>
            <a:ext cx="10668000" cy="59055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defRPr sz="2400" b="1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遗物与状态系统是可扩展构筑的核心规则层</a:t>
            </a:r>
            <a:endParaRPr sz="2400" b="1">
              <a:solidFill>
                <a:srgbClr val="F6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476250" y="1162050"/>
            <a:ext cx="11239500" cy="17145"/>
          </a:xfrm>
          <a:prstGeom prst="rect">
            <a:avLst/>
          </a:prstGeom>
          <a:solidFill>
            <a:srgbClr val="34445F"/>
          </a:solidFill>
          <a:ln w="0">
            <a:solidFill>
              <a:srgbClr val="34445F"/>
            </a:solidFill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476250" y="6429375"/>
            <a:ext cx="7239000" cy="20955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 fontScale="89744"/>
          </a:bodyPr>
          <a:lstStyle/>
          <a:p>
            <a:pPr algn="l">
              <a:defRPr sz="975" b="0">
                <a:solidFill>
                  <a:srgbClr val="7F8AA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7F8AA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Mobile Roguelite Turn-Based Game · Unity / Tuanjie 2022.3</a:t>
            </a:r>
            <a:endParaRPr sz="975" b="0">
              <a:solidFill>
                <a:srgbClr val="7F8AA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144250" y="6362700"/>
            <a:ext cx="571500" cy="26670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/>
          </a:bodyPr>
          <a:lstStyle/>
          <a:p>
            <a:pPr algn="r">
              <a:defRPr sz="1200" b="1">
                <a:solidFill>
                  <a:srgbClr val="F4C9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4C9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08</a:t>
            </a:r>
            <a:endParaRPr sz="1200" b="1">
              <a:solidFill>
                <a:srgbClr val="F4C95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723900" y="1695450"/>
            <a:ext cx="1714500" cy="990600"/>
          </a:xfrm>
          <a:prstGeom prst="roundRect">
            <a:avLst>
              <a:gd name="adj" fmla="val 7692"/>
            </a:avLst>
          </a:prstGeom>
          <a:solidFill>
            <a:srgbClr val="182133"/>
          </a:solidFill>
          <a:ln w="11430">
            <a:solidFill>
              <a:srgbClr val="34445F"/>
            </a:solidFill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876300" y="1866900"/>
            <a:ext cx="1409700" cy="38100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 fontScale="88889"/>
          </a:bodyPr>
          <a:lstStyle/>
          <a:p>
            <a:pPr algn="l">
              <a:defRPr sz="2250" b="1">
                <a:solidFill>
                  <a:srgbClr val="F4C9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F4C9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111</a:t>
            </a:r>
            <a:endParaRPr sz="2250" b="1">
              <a:solidFill>
                <a:srgbClr val="F4C95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76300" y="2286000"/>
            <a:ext cx="1409700" cy="28575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defRPr sz="1125" b="0">
                <a:solidFill>
                  <a:srgbClr val="AEB8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AEB8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遗物目录</a:t>
            </a:r>
            <a:endParaRPr sz="1125" b="0">
              <a:solidFill>
                <a:srgbClr val="AEB8C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2781300" y="1695450"/>
            <a:ext cx="2000250" cy="990600"/>
          </a:xfrm>
          <a:prstGeom prst="roundRect">
            <a:avLst>
              <a:gd name="adj" fmla="val 7692"/>
            </a:avLst>
          </a:prstGeom>
          <a:solidFill>
            <a:srgbClr val="182133"/>
          </a:solidFill>
          <a:ln w="11430">
            <a:solidFill>
              <a:srgbClr val="34445F"/>
            </a:solidFill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2933700" y="1866900"/>
            <a:ext cx="1695450" cy="38100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 fontScale="88889"/>
          </a:bodyPr>
          <a:lstStyle/>
          <a:p>
            <a:pPr algn="l">
              <a:defRPr sz="2250" b="1">
                <a:solidFill>
                  <a:srgbClr val="58D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58D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115</a:t>
            </a:r>
            <a:endParaRPr sz="2250" b="1">
              <a:solidFill>
                <a:srgbClr val="58D7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2933700" y="2286000"/>
            <a:ext cx="1695450" cy="28575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defRPr sz="1125" b="0">
                <a:solidFill>
                  <a:srgbClr val="AEB8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AEB8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遗物 asset 文件</a:t>
            </a:r>
            <a:endParaRPr sz="1125" b="0">
              <a:solidFill>
                <a:srgbClr val="AEB8C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5124450" y="1695450"/>
            <a:ext cx="2000250" cy="990600"/>
          </a:xfrm>
          <a:prstGeom prst="roundRect">
            <a:avLst>
              <a:gd name="adj" fmla="val 7692"/>
            </a:avLst>
          </a:prstGeom>
          <a:solidFill>
            <a:srgbClr val="182133"/>
          </a:solidFill>
          <a:ln w="11430">
            <a:solidFill>
              <a:srgbClr val="34445F"/>
            </a:solidFill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5276850" y="1866900"/>
            <a:ext cx="1695450" cy="38100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 fontScale="88889"/>
          </a:bodyPr>
          <a:lstStyle/>
          <a:p>
            <a:pPr algn="l">
              <a:defRPr sz="2250" b="1">
                <a:solidFill>
                  <a:srgbClr val="74D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74D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Built-in</a:t>
            </a:r>
            <a:endParaRPr sz="2250" b="1">
              <a:solidFill>
                <a:srgbClr val="74D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5276850" y="2286000"/>
            <a:ext cx="1695450" cy="28575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defRPr sz="1125" b="0">
                <a:solidFill>
                  <a:srgbClr val="AEB8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AEB8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效果注册表</a:t>
            </a:r>
            <a:endParaRPr sz="1125" b="0">
              <a:solidFill>
                <a:srgbClr val="AEB8C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742950" y="3333750"/>
            <a:ext cx="2381250" cy="1143000"/>
          </a:xfrm>
          <a:prstGeom prst="roundRect">
            <a:avLst>
              <a:gd name="adj" fmla="val 6667"/>
            </a:avLst>
          </a:prstGeom>
          <a:solidFill>
            <a:srgbClr val="182133"/>
          </a:solidFill>
          <a:ln w="11430">
            <a:solidFill>
              <a:srgbClr val="F4C95D"/>
            </a:solidFill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876300" y="3448050"/>
            <a:ext cx="2114550" cy="24765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 fontScale="83333"/>
          </a:bodyPr>
          <a:lstStyle/>
          <a:p>
            <a:pPr algn="l">
              <a:defRPr sz="1350" b="1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触发时机</a:t>
            </a:r>
            <a:endParaRPr sz="1350" b="1">
              <a:solidFill>
                <a:srgbClr val="F6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76300" y="3733800"/>
            <a:ext cx="2114550" cy="66675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defRPr sz="1050" b="0">
                <a:solidFill>
                  <a:srgbClr val="AEB8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AEB8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获得、战斗开始、回合开始、命中、死亡等</a:t>
            </a:r>
            <a:endParaRPr sz="1050" b="0">
              <a:solidFill>
                <a:srgbClr val="AEB8C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3676650" y="3333750"/>
            <a:ext cx="2571750" cy="1143000"/>
          </a:xfrm>
          <a:prstGeom prst="roundRect">
            <a:avLst>
              <a:gd name="adj" fmla="val 6667"/>
            </a:avLst>
          </a:prstGeom>
          <a:solidFill>
            <a:srgbClr val="182133"/>
          </a:solidFill>
          <a:ln w="11430">
            <a:solidFill>
              <a:srgbClr val="58D7FF"/>
            </a:solidFill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3810000" y="3448050"/>
            <a:ext cx="2305050" cy="24765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 fontScale="83333"/>
          </a:bodyPr>
          <a:lstStyle/>
          <a:p>
            <a:pPr algn="l">
              <a:defRPr sz="1350" b="1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效果实现</a:t>
            </a:r>
            <a:endParaRPr sz="1350" b="1">
              <a:solidFill>
                <a:srgbClr val="F6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3810000" y="3733800"/>
            <a:ext cx="2305050" cy="66675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defRPr sz="1050" b="0">
                <a:solidFill>
                  <a:srgbClr val="AEB8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AEB8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内置效果按领域拆分到多个 partial 文件</a:t>
            </a:r>
            <a:endParaRPr sz="1050" b="0">
              <a:solidFill>
                <a:srgbClr val="AEB8C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6800850" y="3333750"/>
            <a:ext cx="2952750" cy="1143000"/>
          </a:xfrm>
          <a:prstGeom prst="roundRect">
            <a:avLst>
              <a:gd name="adj" fmla="val 6667"/>
            </a:avLst>
          </a:prstGeom>
          <a:solidFill>
            <a:srgbClr val="182133"/>
          </a:solidFill>
          <a:ln w="11430">
            <a:solidFill>
              <a:srgbClr val="74D680"/>
            </a:solidFill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6934200" y="3448050"/>
            <a:ext cx="2686050" cy="24765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 fontScale="83333"/>
          </a:bodyPr>
          <a:lstStyle/>
          <a:p>
            <a:pPr algn="l">
              <a:defRPr sz="1350" b="1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执行上下文</a:t>
            </a:r>
            <a:endParaRPr sz="1350" b="1">
              <a:solidFill>
                <a:srgbClr val="F6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6934200" y="3733800"/>
            <a:ext cx="2686050" cy="66675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defRPr sz="1050" b="0">
                <a:solidFill>
                  <a:srgbClr val="AEB8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AEB8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通过上下文访问战斗、地图、奖励和反馈接口</a:t>
            </a:r>
            <a:endParaRPr sz="1050" b="0">
              <a:solidFill>
                <a:srgbClr val="AEB8C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3124200" y="3905250"/>
            <a:ext cx="552450" cy="28575"/>
          </a:xfrm>
          <a:prstGeom prst="rect">
            <a:avLst/>
          </a:prstGeom>
          <a:solidFill>
            <a:srgbClr val="F4C95D"/>
          </a:solidFill>
          <a:ln w="0">
            <a:solidFill>
              <a:srgbClr val="F4C95D"/>
            </a:solidFill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3581400" y="3857625"/>
            <a:ext cx="114300" cy="114300"/>
          </a:xfrm>
          <a:prstGeom prst="rect">
            <a:avLst/>
          </a:prstGeom>
          <a:solidFill>
            <a:srgbClr val="F4C95D"/>
          </a:solidFill>
          <a:ln w="0">
            <a:solidFill>
              <a:srgbClr val="F4C95D"/>
            </a:solidFill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6248400" y="3905250"/>
            <a:ext cx="552450" cy="28575"/>
          </a:xfrm>
          <a:prstGeom prst="rect">
            <a:avLst/>
          </a:prstGeom>
          <a:solidFill>
            <a:srgbClr val="58D7FF"/>
          </a:solidFill>
          <a:ln w="0">
            <a:solidFill>
              <a:srgbClr val="58D7FF"/>
            </a:solidFill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6705600" y="3857625"/>
            <a:ext cx="114300" cy="114300"/>
          </a:xfrm>
          <a:prstGeom prst="rect">
            <a:avLst/>
          </a:prstGeom>
          <a:solidFill>
            <a:srgbClr val="58D7FF"/>
          </a:solidFill>
          <a:ln w="0">
            <a:solidFill>
              <a:srgbClr val="58D7FF"/>
            </a:solidFill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742950" y="4857750"/>
            <a:ext cx="10096500" cy="66675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95250" tIns="76200" rIns="95250" bIns="76200" anchor="t">
            <a:normAutofit/>
          </a:bodyPr>
          <a:lstStyle/>
          <a:p>
            <a:pPr algn="l">
              <a:defRPr sz="1425" b="0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核心不是把每个遗物写死在场景里，而是让效果接入统一生命周期</a:t>
            </a:r>
            <a:endParaRPr sz="1425" b="0">
              <a:solidFill>
                <a:srgbClr val="F6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425" b="0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状态效果和遗物效果共享战斗上下文，便于组合和测试</a:t>
            </a:r>
            <a:endParaRPr sz="1425" b="0">
              <a:solidFill>
                <a:srgbClr val="F6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圆角矩形 30"/>
          <p:cNvSpPr>
            <a:spLocks noGrp="1"/>
          </p:cNvSpPr>
          <p:nvPr/>
        </p:nvSpPr>
        <p:spPr>
          <a:xfrm>
            <a:off x="742950" y="5619750"/>
            <a:ext cx="10096500" cy="666750"/>
          </a:xfrm>
          <a:prstGeom prst="roundRect">
            <a:avLst>
              <a:gd name="adj" fmla="val 11429"/>
            </a:avLst>
          </a:prstGeom>
          <a:solidFill>
            <a:srgbClr val="121A28"/>
          </a:solidFill>
          <a:ln w="11430">
            <a:solidFill>
              <a:srgbClr val="34445F"/>
            </a:solidFill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895350" y="5715000"/>
            <a:ext cx="9791700" cy="209550"/>
          </a:xfrm>
          <a:prstGeom prst="rect">
            <a:avLst/>
          </a:prstGeom>
          <a:solidFill>
            <a:srgbClr val="121A28"/>
          </a:solidFill>
          <a:ln w="0">
            <a:solidFill>
              <a:srgbClr val="121A28"/>
            </a:solidFill>
          </a:ln>
        </p:spPr>
        <p:txBody>
          <a:bodyPr wrap="square" lIns="57150" tIns="38100" rIns="57150" bIns="38100" anchor="t">
            <a:normAutofit fontScale="89744"/>
          </a:bodyPr>
          <a:lstStyle/>
          <a:p>
            <a:pPr algn="l">
              <a:defRPr sz="975" b="1">
                <a:solidFill>
                  <a:srgbClr val="F4C9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F4C9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Relic system evidence</a:t>
            </a:r>
            <a:endParaRPr sz="975" b="1">
              <a:solidFill>
                <a:srgbClr val="F4C95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914400" y="5943600"/>
            <a:ext cx="9753600" cy="266700"/>
          </a:xfrm>
          <a:prstGeom prst="rect">
            <a:avLst/>
          </a:prstGeom>
          <a:solidFill>
            <a:srgbClr val="121A28"/>
          </a:solidFill>
          <a:ln w="0">
            <a:solidFill>
              <a:srgbClr val="121A28"/>
            </a:solidFill>
          </a:ln>
        </p:spPr>
        <p:txBody>
          <a:bodyPr wrap="square" lIns="19050" tIns="19050" rIns="19050" bIns="19050" anchor="t">
            <a:normAutofit fontScale="50000"/>
          </a:bodyPr>
          <a:lstStyle/>
          <a:p>
            <a:pPr algn="l">
              <a:defRPr sz="750" b="0">
                <a:solidFill>
                  <a:srgbClr val="DCE6F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750" b="0">
                <a:solidFill>
                  <a:srgbClr val="DCE6F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RelicSystem.BuiltInEffectRegistry.cs</a:t>
            </a:r>
            <a:endParaRPr sz="750" b="0">
              <a:solidFill>
                <a:srgbClr val="DCE6F5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750" b="0">
                <a:solidFill>
                  <a:srgbClr val="DCE6F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750" b="0">
                <a:solidFill>
                  <a:srgbClr val="DCE6F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RelicSystem.BuiltInDiceEffects.cs</a:t>
            </a:r>
            <a:endParaRPr sz="750" b="0">
              <a:solidFill>
                <a:srgbClr val="DCE6F5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750" b="0">
                <a:solidFill>
                  <a:srgbClr val="DCE6F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750" b="0">
                <a:solidFill>
                  <a:srgbClr val="DCE6F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RelicSystem.BuiltInStatusEffects.cs</a:t>
            </a:r>
            <a:endParaRPr sz="750" b="0">
              <a:solidFill>
                <a:srgbClr val="DCE6F5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750" b="0">
                <a:solidFill>
                  <a:srgbClr val="DCE6F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750" b="0">
                <a:solidFill>
                  <a:srgbClr val="DCE6F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RelicSystem.BuiltInRoundStartStatueEffects.cs</a:t>
            </a:r>
            <a:endParaRPr sz="750" b="0">
              <a:solidFill>
                <a:srgbClr val="DCE6F5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514350" y="247650"/>
            <a:ext cx="4762500" cy="26670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defRPr sz="1125" b="1">
                <a:solidFill>
                  <a:srgbClr val="F4C9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F4C9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08 敌人与关卡数据设计</a:t>
            </a:r>
            <a:endParaRPr sz="1125" b="1">
              <a:solidFill>
                <a:srgbClr val="F4C95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76250" y="533400"/>
            <a:ext cx="10668000" cy="59055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defRPr sz="2400" b="1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敌人与关卡内容采用数据驱动，减少新增内容的代码成本</a:t>
            </a:r>
            <a:endParaRPr sz="2400" b="1">
              <a:solidFill>
                <a:srgbClr val="F6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476250" y="1162050"/>
            <a:ext cx="11239500" cy="17145"/>
          </a:xfrm>
          <a:prstGeom prst="rect">
            <a:avLst/>
          </a:prstGeom>
          <a:solidFill>
            <a:srgbClr val="34445F"/>
          </a:solidFill>
          <a:ln w="0">
            <a:solidFill>
              <a:srgbClr val="34445F"/>
            </a:solidFill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476250" y="6429375"/>
            <a:ext cx="7239000" cy="20955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 fontScale="89744"/>
          </a:bodyPr>
          <a:lstStyle/>
          <a:p>
            <a:pPr algn="l">
              <a:defRPr sz="975" b="0">
                <a:solidFill>
                  <a:srgbClr val="7F8AA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7F8AA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Mobile Roguelite Turn-Based Game · Unity / Tuanjie 2022.3</a:t>
            </a:r>
            <a:endParaRPr sz="975" b="0">
              <a:solidFill>
                <a:srgbClr val="7F8AA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144250" y="6362700"/>
            <a:ext cx="571500" cy="26670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/>
          </a:bodyPr>
          <a:lstStyle/>
          <a:p>
            <a:pPr algn="r">
              <a:defRPr sz="1200" b="1">
                <a:solidFill>
                  <a:srgbClr val="F4C9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4C9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09</a:t>
            </a:r>
            <a:endParaRPr sz="1200" b="1">
              <a:solidFill>
                <a:srgbClr val="F4C95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666750" y="1695450"/>
            <a:ext cx="1762125" cy="1028700"/>
          </a:xfrm>
          <a:prstGeom prst="roundRect">
            <a:avLst>
              <a:gd name="adj" fmla="val 7407"/>
            </a:avLst>
          </a:prstGeom>
          <a:solidFill>
            <a:srgbClr val="182133"/>
          </a:solidFill>
          <a:ln w="11430">
            <a:solidFill>
              <a:srgbClr val="34445F"/>
            </a:solidFill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819150" y="1866900"/>
            <a:ext cx="1457325" cy="38100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 fontScale="88889"/>
          </a:bodyPr>
          <a:lstStyle/>
          <a:p>
            <a:pPr algn="l">
              <a:defRPr sz="2250" b="1">
                <a:solidFill>
                  <a:srgbClr val="F4C9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F4C9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37</a:t>
            </a:r>
            <a:endParaRPr sz="2250" b="1">
              <a:solidFill>
                <a:srgbClr val="F4C95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19150" y="2324100"/>
            <a:ext cx="1457325" cy="28575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defRPr sz="1125" b="0">
                <a:solidFill>
                  <a:srgbClr val="AEB8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AEB8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主要敌人目录</a:t>
            </a:r>
            <a:endParaRPr sz="1125" b="0">
              <a:solidFill>
                <a:srgbClr val="AEB8C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2714625" y="1695450"/>
            <a:ext cx="1952625" cy="1028700"/>
          </a:xfrm>
          <a:prstGeom prst="roundRect">
            <a:avLst>
              <a:gd name="adj" fmla="val 7407"/>
            </a:avLst>
          </a:prstGeom>
          <a:solidFill>
            <a:srgbClr val="182133"/>
          </a:solidFill>
          <a:ln w="11430">
            <a:solidFill>
              <a:srgbClr val="34445F"/>
            </a:solidFill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2867025" y="1866900"/>
            <a:ext cx="1647825" cy="38100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 fontScale="88889"/>
          </a:bodyPr>
          <a:lstStyle/>
          <a:p>
            <a:pPr algn="l">
              <a:defRPr sz="2250" b="1">
                <a:solidFill>
                  <a:srgbClr val="58D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58D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191</a:t>
            </a:r>
            <a:endParaRPr sz="2250" b="1">
              <a:solidFill>
                <a:srgbClr val="58D7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2867025" y="2324100"/>
            <a:ext cx="1647825" cy="28575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defRPr sz="1125" b="0">
                <a:solidFill>
                  <a:srgbClr val="AEB8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AEB8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敌人相关 asset</a:t>
            </a:r>
            <a:endParaRPr sz="1125" b="0">
              <a:solidFill>
                <a:srgbClr val="AEB8C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4953000" y="1695450"/>
            <a:ext cx="1762125" cy="1028700"/>
          </a:xfrm>
          <a:prstGeom prst="roundRect">
            <a:avLst>
              <a:gd name="adj" fmla="val 7407"/>
            </a:avLst>
          </a:prstGeom>
          <a:solidFill>
            <a:srgbClr val="182133"/>
          </a:solidFill>
          <a:ln w="11430">
            <a:solidFill>
              <a:srgbClr val="34445F"/>
            </a:solidFill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5105400" y="1866900"/>
            <a:ext cx="1457325" cy="38100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 fontScale="88889"/>
          </a:bodyPr>
          <a:lstStyle/>
          <a:p>
            <a:pPr algn="l">
              <a:defRPr sz="2250" b="1">
                <a:solidFill>
                  <a:srgbClr val="74D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74D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2250" b="1">
              <a:solidFill>
                <a:srgbClr val="74D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5105400" y="2324100"/>
            <a:ext cx="1457325" cy="28575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defRPr sz="1125" b="0">
                <a:solidFill>
                  <a:srgbClr val="AEB8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AEB8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敌人数据分区</a:t>
            </a:r>
            <a:endParaRPr sz="1125" b="0">
              <a:solidFill>
                <a:srgbClr val="AEB8C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742950" y="3333750"/>
            <a:ext cx="2476500" cy="1162050"/>
          </a:xfrm>
          <a:prstGeom prst="roundRect">
            <a:avLst>
              <a:gd name="adj" fmla="val 6557"/>
            </a:avLst>
          </a:prstGeom>
          <a:solidFill>
            <a:srgbClr val="182133"/>
          </a:solidFill>
          <a:ln w="11430">
            <a:solidFill>
              <a:srgbClr val="F4C95D"/>
            </a:solidFill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876300" y="3448050"/>
            <a:ext cx="2209800" cy="24765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 fontScale="83333"/>
          </a:bodyPr>
          <a:lstStyle/>
          <a:p>
            <a:pPr algn="l">
              <a:defRPr sz="1350" b="1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Enemies</a:t>
            </a:r>
            <a:endParaRPr sz="1350" b="1">
              <a:solidFill>
                <a:srgbClr val="F6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76300" y="3733800"/>
            <a:ext cx="2209800" cy="68580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defRPr sz="1050" b="0">
                <a:solidFill>
                  <a:srgbClr val="AEB8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AEB8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单个敌人的数值、技能和掉落配置</a:t>
            </a:r>
            <a:endParaRPr sz="1050" b="0">
              <a:solidFill>
                <a:srgbClr val="AEB8C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3714750" y="3333750"/>
            <a:ext cx="2667000" cy="1162050"/>
          </a:xfrm>
          <a:prstGeom prst="roundRect">
            <a:avLst>
              <a:gd name="adj" fmla="val 6557"/>
            </a:avLst>
          </a:prstGeom>
          <a:solidFill>
            <a:srgbClr val="182133"/>
          </a:solidFill>
          <a:ln w="11430">
            <a:solidFill>
              <a:srgbClr val="58D7FF"/>
            </a:solidFill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3848100" y="3448050"/>
            <a:ext cx="2400300" cy="24765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 fontScale="83333"/>
          </a:bodyPr>
          <a:lstStyle/>
          <a:p>
            <a:pPr algn="l">
              <a:defRPr sz="1350" b="1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EnemyGroup</a:t>
            </a:r>
            <a:endParaRPr sz="1350" b="1">
              <a:solidFill>
                <a:srgbClr val="F6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3848100" y="3733800"/>
            <a:ext cx="2400300" cy="68580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defRPr sz="1050" b="0">
                <a:solidFill>
                  <a:srgbClr val="AEB8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AEB8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Boss、Elite、Standard、事件遭遇组</a:t>
            </a:r>
            <a:endParaRPr sz="1050" b="0">
              <a:solidFill>
                <a:srgbClr val="AEB8C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6877050" y="3333750"/>
            <a:ext cx="2381250" cy="1162050"/>
          </a:xfrm>
          <a:prstGeom prst="roundRect">
            <a:avLst>
              <a:gd name="adj" fmla="val 6557"/>
            </a:avLst>
          </a:prstGeom>
          <a:solidFill>
            <a:srgbClr val="182133"/>
          </a:solidFill>
          <a:ln w="11430">
            <a:solidFill>
              <a:srgbClr val="74D680"/>
            </a:solidFill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7010400" y="3448050"/>
            <a:ext cx="2114550" cy="24765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 fontScale="83333"/>
          </a:bodyPr>
          <a:lstStyle/>
          <a:p>
            <a:pPr algn="l">
              <a:defRPr sz="1350" b="1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Skill</a:t>
            </a:r>
            <a:endParaRPr sz="1350" b="1">
              <a:solidFill>
                <a:srgbClr val="F6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7010400" y="3733800"/>
            <a:ext cx="2114550" cy="68580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defRPr sz="1050" b="0">
                <a:solidFill>
                  <a:srgbClr val="AEB8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AEB8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敌方技能效果、描述和行为参数</a:t>
            </a:r>
            <a:endParaRPr sz="1050" b="0">
              <a:solidFill>
                <a:srgbClr val="AEB8C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742950" y="4905375"/>
            <a:ext cx="4762500" cy="87630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95250" tIns="76200" rIns="95250" bIns="76200" anchor="t">
            <a:normAutofit/>
          </a:bodyPr>
          <a:lstStyle/>
          <a:p>
            <a:pPr algn="l">
              <a:defRPr sz="1350" b="0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新增敌人时，优先扩展 SO 数据和技能配置</a:t>
            </a:r>
            <a:endParaRPr sz="1350" b="0">
              <a:solidFill>
                <a:srgbClr val="F6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350" b="0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遭遇组把关卡节奏与单体敌人定义解耦</a:t>
            </a:r>
            <a:endParaRPr sz="1350" b="0">
              <a:solidFill>
                <a:srgbClr val="F6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350" b="0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战斗启动器负责把 encounter 数据转为场景对象</a:t>
            </a:r>
            <a:endParaRPr sz="1350" b="0">
              <a:solidFill>
                <a:srgbClr val="F6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圆角矩形 26"/>
          <p:cNvSpPr>
            <a:spLocks noGrp="1"/>
          </p:cNvSpPr>
          <p:nvPr/>
        </p:nvSpPr>
        <p:spPr>
          <a:xfrm>
            <a:off x="6096000" y="4905375"/>
            <a:ext cx="4762500" cy="876300"/>
          </a:xfrm>
          <a:prstGeom prst="roundRect">
            <a:avLst>
              <a:gd name="adj" fmla="val 8696"/>
            </a:avLst>
          </a:prstGeom>
          <a:solidFill>
            <a:srgbClr val="121A28"/>
          </a:solidFill>
          <a:ln w="11430">
            <a:solidFill>
              <a:srgbClr val="34445F"/>
            </a:solidFill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6248400" y="5000625"/>
            <a:ext cx="4457700" cy="209550"/>
          </a:xfrm>
          <a:prstGeom prst="rect">
            <a:avLst/>
          </a:prstGeom>
          <a:solidFill>
            <a:srgbClr val="121A28"/>
          </a:solidFill>
          <a:ln w="0">
            <a:solidFill>
              <a:srgbClr val="121A28"/>
            </a:solidFill>
          </a:ln>
        </p:spPr>
        <p:txBody>
          <a:bodyPr wrap="square" lIns="57150" tIns="38100" rIns="57150" bIns="38100" anchor="t">
            <a:normAutofit fontScale="89744"/>
          </a:bodyPr>
          <a:lstStyle/>
          <a:p>
            <a:pPr algn="l">
              <a:defRPr sz="975" b="1">
                <a:solidFill>
                  <a:srgbClr val="F4C9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F4C9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Enemy content evidence</a:t>
            </a:r>
            <a:endParaRPr sz="975" b="1">
              <a:solidFill>
                <a:srgbClr val="F4C95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6267450" y="5305425"/>
            <a:ext cx="4419600" cy="361950"/>
          </a:xfrm>
          <a:prstGeom prst="rect">
            <a:avLst/>
          </a:prstGeom>
          <a:solidFill>
            <a:srgbClr val="121A28"/>
          </a:solidFill>
          <a:ln w="0">
            <a:solidFill>
              <a:srgbClr val="121A28"/>
            </a:solidFill>
          </a:ln>
        </p:spPr>
        <p:txBody>
          <a:bodyPr wrap="square" lIns="19050" tIns="19050" rIns="19050" bIns="19050" anchor="t">
            <a:normAutofit fontScale="50595"/>
          </a:bodyPr>
          <a:lstStyle/>
          <a:p>
            <a:pPr algn="l">
              <a:defRPr sz="1050" b="0">
                <a:solidFill>
                  <a:srgbClr val="DCE6F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50" b="0">
                <a:solidFill>
                  <a:srgbClr val="DCE6F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Assets/Data/Enemies/Enemies/001 GreenSlime</a:t>
            </a:r>
            <a:endParaRPr sz="1050" b="0">
              <a:solidFill>
                <a:srgbClr val="DCE6F5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050" b="0">
                <a:solidFill>
                  <a:srgbClr val="DCE6F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50" b="0">
                <a:solidFill>
                  <a:srgbClr val="DCE6F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Assets/Data/Enemies/Enemies/040 InterlockingPrismServants</a:t>
            </a:r>
            <a:endParaRPr sz="1050" b="0">
              <a:solidFill>
                <a:srgbClr val="DCE6F5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050" b="0">
                <a:solidFill>
                  <a:srgbClr val="DCE6F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50" b="0">
                <a:solidFill>
                  <a:srgbClr val="DCE6F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Assets/Data/Enemies/EnemyGroup/Boss</a:t>
            </a:r>
            <a:endParaRPr sz="1050" b="0">
              <a:solidFill>
                <a:srgbClr val="DCE6F5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050" b="0">
                <a:solidFill>
                  <a:srgbClr val="DCE6F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50" b="0">
                <a:solidFill>
                  <a:srgbClr val="DCE6F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BattleSceneEncounterBootstrap.cs</a:t>
            </a:r>
            <a:endParaRPr sz="1050" b="0">
              <a:solidFill>
                <a:srgbClr val="DCE6F5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514350" y="247650"/>
            <a:ext cx="4762500" cy="26670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defRPr sz="1125" b="1">
                <a:solidFill>
                  <a:srgbClr val="F4C9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F4C9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09 教程与新手引导</a:t>
            </a:r>
            <a:endParaRPr sz="1125" b="1">
              <a:solidFill>
                <a:srgbClr val="F4C95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76250" y="533400"/>
            <a:ext cx="10668000" cy="59055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defRPr sz="2400" b="1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教程系统把新手引导拆成地图、主菜单和战斗三个上下文</a:t>
            </a:r>
            <a:endParaRPr sz="2400" b="1">
              <a:solidFill>
                <a:srgbClr val="F6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476250" y="1162050"/>
            <a:ext cx="11239500" cy="17145"/>
          </a:xfrm>
          <a:prstGeom prst="rect">
            <a:avLst/>
          </a:prstGeom>
          <a:solidFill>
            <a:srgbClr val="34445F"/>
          </a:solidFill>
          <a:ln w="0">
            <a:solidFill>
              <a:srgbClr val="34445F"/>
            </a:solidFill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476250" y="6429375"/>
            <a:ext cx="7239000" cy="20955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 fontScale="89744"/>
          </a:bodyPr>
          <a:lstStyle/>
          <a:p>
            <a:pPr algn="l">
              <a:defRPr sz="975" b="0">
                <a:solidFill>
                  <a:srgbClr val="7F8AA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7F8AA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Mobile Roguelite Turn-Based Game · Unity / Tuanjie 2022.3</a:t>
            </a:r>
            <a:endParaRPr sz="975" b="0">
              <a:solidFill>
                <a:srgbClr val="7F8AA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144250" y="6362700"/>
            <a:ext cx="571500" cy="26670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/>
          </a:bodyPr>
          <a:lstStyle/>
          <a:p>
            <a:pPr algn="r">
              <a:defRPr sz="1200" b="1">
                <a:solidFill>
                  <a:srgbClr val="F4C9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4C9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endParaRPr sz="1200" b="1">
              <a:solidFill>
                <a:srgbClr val="F4C95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781050" y="1809750"/>
            <a:ext cx="2381250" cy="1143000"/>
          </a:xfrm>
          <a:prstGeom prst="roundRect">
            <a:avLst>
              <a:gd name="adj" fmla="val 6667"/>
            </a:avLst>
          </a:prstGeom>
          <a:solidFill>
            <a:srgbClr val="182133"/>
          </a:solidFill>
          <a:ln w="11430">
            <a:solidFill>
              <a:srgbClr val="F4C95D"/>
            </a:solidFill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914400" y="1924050"/>
            <a:ext cx="2114550" cy="24765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 fontScale="83333"/>
          </a:bodyPr>
          <a:lstStyle/>
          <a:p>
            <a:pPr algn="l">
              <a:defRPr sz="1350" b="1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主菜单引导</a:t>
            </a:r>
            <a:endParaRPr sz="1350" b="1">
              <a:solidFill>
                <a:srgbClr val="F6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914400" y="2209800"/>
            <a:ext cx="2114550" cy="66675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defRPr sz="1050" b="0">
                <a:solidFill>
                  <a:srgbClr val="AEB8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AEB8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入口、按钮说明和首次流程提示</a:t>
            </a:r>
            <a:endParaRPr sz="1050" b="0">
              <a:solidFill>
                <a:srgbClr val="AEB8C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4210050" y="1809750"/>
            <a:ext cx="2381250" cy="1143000"/>
          </a:xfrm>
          <a:prstGeom prst="roundRect">
            <a:avLst>
              <a:gd name="adj" fmla="val 6667"/>
            </a:avLst>
          </a:prstGeom>
          <a:solidFill>
            <a:srgbClr val="182133"/>
          </a:solidFill>
          <a:ln w="11430">
            <a:solidFill>
              <a:srgbClr val="58D7FF"/>
            </a:solidFill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4343400" y="1924050"/>
            <a:ext cx="2114550" cy="24765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 fontScale="83333"/>
          </a:bodyPr>
          <a:lstStyle/>
          <a:p>
            <a:pPr algn="l">
              <a:defRPr sz="1350" b="1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地图引导</a:t>
            </a:r>
            <a:endParaRPr sz="1350" b="1">
              <a:solidFill>
                <a:srgbClr val="F6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4343400" y="2209800"/>
            <a:ext cx="2114550" cy="66675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defRPr sz="1050" b="0">
                <a:solidFill>
                  <a:srgbClr val="AEB8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AEB8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节点选择、事件面板和商店流程</a:t>
            </a:r>
            <a:endParaRPr sz="1050" b="0">
              <a:solidFill>
                <a:srgbClr val="AEB8C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7639050" y="1809750"/>
            <a:ext cx="2667000" cy="1143000"/>
          </a:xfrm>
          <a:prstGeom prst="roundRect">
            <a:avLst>
              <a:gd name="adj" fmla="val 6667"/>
            </a:avLst>
          </a:prstGeom>
          <a:solidFill>
            <a:srgbClr val="182133"/>
          </a:solidFill>
          <a:ln w="11430">
            <a:solidFill>
              <a:srgbClr val="74D680"/>
            </a:solidFill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7772400" y="1924050"/>
            <a:ext cx="2400300" cy="24765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 fontScale="83333"/>
          </a:bodyPr>
          <a:lstStyle/>
          <a:p>
            <a:pPr algn="l">
              <a:defRPr sz="1350" b="1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战斗引导</a:t>
            </a:r>
            <a:endParaRPr sz="1350" b="1">
              <a:solidFill>
                <a:srgbClr val="F6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7772400" y="2209800"/>
            <a:ext cx="2400300" cy="66675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defRPr sz="1050" b="0">
                <a:solidFill>
                  <a:srgbClr val="AEB8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AEB8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速度按钮、技能选择、目标与结算反馈</a:t>
            </a:r>
            <a:endParaRPr sz="1050" b="0">
              <a:solidFill>
                <a:srgbClr val="AEB8C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3162300" y="2381250"/>
            <a:ext cx="1047750" cy="28575"/>
          </a:xfrm>
          <a:prstGeom prst="rect">
            <a:avLst/>
          </a:prstGeom>
          <a:solidFill>
            <a:srgbClr val="F4C95D"/>
          </a:solidFill>
          <a:ln w="0">
            <a:solidFill>
              <a:srgbClr val="F4C95D"/>
            </a:solidFill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4114800" y="2333625"/>
            <a:ext cx="114300" cy="114300"/>
          </a:xfrm>
          <a:prstGeom prst="rect">
            <a:avLst/>
          </a:prstGeom>
          <a:solidFill>
            <a:srgbClr val="F4C95D"/>
          </a:solidFill>
          <a:ln w="0">
            <a:solidFill>
              <a:srgbClr val="F4C95D"/>
            </a:solidFill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6591300" y="2381250"/>
            <a:ext cx="1047750" cy="28575"/>
          </a:xfrm>
          <a:prstGeom prst="rect">
            <a:avLst/>
          </a:prstGeom>
          <a:solidFill>
            <a:srgbClr val="58D7FF"/>
          </a:solidFill>
          <a:ln w="0">
            <a:solidFill>
              <a:srgbClr val="58D7FF"/>
            </a:solidFill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7543800" y="2333625"/>
            <a:ext cx="114300" cy="114300"/>
          </a:xfrm>
          <a:prstGeom prst="rect">
            <a:avLst/>
          </a:prstGeom>
          <a:solidFill>
            <a:srgbClr val="58D7FF"/>
          </a:solidFill>
          <a:ln w="0">
            <a:solidFill>
              <a:srgbClr val="58D7FF"/>
            </a:solidFill>
          </a:ln>
        </p:spPr>
      </p:sp>
      <p:sp>
        <p:nvSpPr>
          <p:cNvPr id="21" name="圆角矩形 20"/>
          <p:cNvSpPr>
            <a:spLocks noGrp="1"/>
          </p:cNvSpPr>
          <p:nvPr/>
        </p:nvSpPr>
        <p:spPr>
          <a:xfrm>
            <a:off x="838200" y="3676650"/>
            <a:ext cx="4381500" cy="1428750"/>
          </a:xfrm>
          <a:prstGeom prst="roundRect">
            <a:avLst>
              <a:gd name="adj" fmla="val 5333"/>
            </a:avLst>
          </a:prstGeom>
          <a:solidFill>
            <a:srgbClr val="151E2D"/>
          </a:solidFill>
          <a:ln w="11430">
            <a:solidFill>
              <a:srgbClr val="34445F"/>
            </a:solidFill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1066800" y="3905250"/>
            <a:ext cx="1238250" cy="285750"/>
          </a:xfrm>
          <a:prstGeom prst="rect">
            <a:avLst/>
          </a:prstGeom>
          <a:solidFill>
            <a:srgbClr val="151E2D"/>
          </a:solidFill>
          <a:ln w="0">
            <a:solidFill>
              <a:srgbClr val="151E2D"/>
            </a:solidFill>
          </a:ln>
        </p:spPr>
        <p:txBody>
          <a:bodyPr wrap="square" lIns="57150" tIns="38100" rIns="57150" bIns="38100" anchor="t">
            <a:normAutofit fontScale="83333"/>
          </a:bodyPr>
          <a:lstStyle/>
          <a:p>
            <a:pPr algn="l">
              <a:defRPr sz="1650" b="1">
                <a:solidFill>
                  <a:srgbClr val="F4C9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F4C9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设计取舍</a:t>
            </a:r>
            <a:endParaRPr sz="1650" b="1">
              <a:solidFill>
                <a:srgbClr val="F4C95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1047750" y="4286250"/>
            <a:ext cx="3619500" cy="666750"/>
          </a:xfrm>
          <a:prstGeom prst="rect">
            <a:avLst/>
          </a:prstGeom>
          <a:solidFill>
            <a:srgbClr val="151E2D"/>
          </a:solidFill>
          <a:ln w="0">
            <a:solidFill>
              <a:srgbClr val="151E2D"/>
            </a:solidFill>
          </a:ln>
        </p:spPr>
        <p:txBody>
          <a:bodyPr wrap="square" lIns="95250" tIns="76200" rIns="95250" bIns="76200" anchor="t">
            <a:normAutofit fontScale="83333"/>
          </a:bodyPr>
          <a:lstStyle/>
          <a:p>
            <a:pPr algn="l">
              <a:defRPr sz="1350" b="0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教程逻辑不直接塞进核心战斗服务</a:t>
            </a:r>
            <a:endParaRPr sz="1350" b="0">
              <a:solidFill>
                <a:srgbClr val="F6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350" b="0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高亮坐标工具处理不同 UI 层级的定位</a:t>
            </a:r>
            <a:endParaRPr sz="1350" b="0">
              <a:solidFill>
                <a:srgbClr val="F6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350" b="0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战斗教程可通过 Definition SO 配置阶段</a:t>
            </a:r>
            <a:endParaRPr sz="1350" b="0">
              <a:solidFill>
                <a:srgbClr val="F6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圆角矩形 23"/>
          <p:cNvSpPr>
            <a:spLocks noGrp="1"/>
          </p:cNvSpPr>
          <p:nvPr/>
        </p:nvSpPr>
        <p:spPr>
          <a:xfrm>
            <a:off x="5905500" y="3676650"/>
            <a:ext cx="4762500" cy="1428750"/>
          </a:xfrm>
          <a:prstGeom prst="roundRect">
            <a:avLst>
              <a:gd name="adj" fmla="val 5333"/>
            </a:avLst>
          </a:prstGeom>
          <a:solidFill>
            <a:srgbClr val="121A28"/>
          </a:solidFill>
          <a:ln w="11430">
            <a:solidFill>
              <a:srgbClr val="34445F"/>
            </a:solidFill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6057900" y="3771900"/>
            <a:ext cx="4457700" cy="209550"/>
          </a:xfrm>
          <a:prstGeom prst="rect">
            <a:avLst/>
          </a:prstGeom>
          <a:solidFill>
            <a:srgbClr val="121A28"/>
          </a:solidFill>
          <a:ln w="0">
            <a:solidFill>
              <a:srgbClr val="121A28"/>
            </a:solidFill>
          </a:ln>
        </p:spPr>
        <p:txBody>
          <a:bodyPr wrap="square" lIns="57150" tIns="38100" rIns="57150" bIns="38100" anchor="t">
            <a:normAutofit fontScale="89744"/>
          </a:bodyPr>
          <a:lstStyle/>
          <a:p>
            <a:pPr algn="l">
              <a:defRPr sz="975" b="1">
                <a:solidFill>
                  <a:srgbClr val="F4C9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F4C9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Tutorial evidence</a:t>
            </a:r>
            <a:endParaRPr sz="975" b="1">
              <a:solidFill>
                <a:srgbClr val="F4C95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6076950" y="4076700"/>
            <a:ext cx="4419600" cy="914400"/>
          </a:xfrm>
          <a:prstGeom prst="rect">
            <a:avLst/>
          </a:prstGeom>
          <a:solidFill>
            <a:srgbClr val="121A28"/>
          </a:solidFill>
          <a:ln w="0">
            <a:solidFill>
              <a:srgbClr val="121A28"/>
            </a:solidFill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050" b="0">
                <a:solidFill>
                  <a:srgbClr val="DCE6F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50" b="0">
                <a:solidFill>
                  <a:srgbClr val="DCE6F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MainMenuTutorialOverlay.cs</a:t>
            </a:r>
            <a:endParaRPr sz="1050" b="0">
              <a:solidFill>
                <a:srgbClr val="DCE6F5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050" b="0">
                <a:solidFill>
                  <a:srgbClr val="DCE6F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50" b="0">
                <a:solidFill>
                  <a:srgbClr val="DCE6F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MapTutorialFlowService.cs</a:t>
            </a:r>
            <a:endParaRPr sz="1050" b="0">
              <a:solidFill>
                <a:srgbClr val="DCE6F5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050" b="0">
                <a:solidFill>
                  <a:srgbClr val="DCE6F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50" b="0">
                <a:solidFill>
                  <a:srgbClr val="DCE6F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TutorialBattleDefinition_SO.cs</a:t>
            </a:r>
            <a:endParaRPr sz="1050" b="0">
              <a:solidFill>
                <a:srgbClr val="DCE6F5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050" b="0">
                <a:solidFill>
                  <a:srgbClr val="DCE6F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50" b="0">
                <a:solidFill>
                  <a:srgbClr val="DCE6F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TutorialHighlightCoordinateUtility.cs</a:t>
            </a:r>
            <a:endParaRPr sz="1050" b="0">
              <a:solidFill>
                <a:srgbClr val="DCE6F5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514350" y="247650"/>
            <a:ext cx="4762500" cy="26670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defRPr sz="1125" b="1">
                <a:solidFill>
                  <a:srgbClr val="F4C9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F4C9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 UI / 反馈 / 音频表现</a:t>
            </a:r>
            <a:endParaRPr sz="1125" b="1">
              <a:solidFill>
                <a:srgbClr val="F4C95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76250" y="533400"/>
            <a:ext cx="10668000" cy="59055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defRPr sz="2400" b="1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UI 与反馈层围绕战斗可读性服务，而不是单纯堆特效</a:t>
            </a:r>
            <a:endParaRPr sz="2400" b="1">
              <a:solidFill>
                <a:srgbClr val="F6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476250" y="1162050"/>
            <a:ext cx="11239500" cy="17145"/>
          </a:xfrm>
          <a:prstGeom prst="rect">
            <a:avLst/>
          </a:prstGeom>
          <a:solidFill>
            <a:srgbClr val="34445F"/>
          </a:solidFill>
          <a:ln w="0">
            <a:solidFill>
              <a:srgbClr val="34445F"/>
            </a:solidFill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476250" y="6429375"/>
            <a:ext cx="7239000" cy="20955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 fontScale="89744"/>
          </a:bodyPr>
          <a:lstStyle/>
          <a:p>
            <a:pPr algn="l">
              <a:defRPr sz="975" b="0">
                <a:solidFill>
                  <a:srgbClr val="7F8AA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7F8AA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Mobile Roguelite Turn-Based Game · Unity / Tuanjie 2022.3</a:t>
            </a:r>
            <a:endParaRPr sz="975" b="0">
              <a:solidFill>
                <a:srgbClr val="7F8AA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144250" y="6362700"/>
            <a:ext cx="571500" cy="26670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/>
          </a:bodyPr>
          <a:lstStyle/>
          <a:p>
            <a:pPr algn="r">
              <a:defRPr sz="1200" b="1">
                <a:solidFill>
                  <a:srgbClr val="F4C9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4C9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</a:t>
            </a:r>
            <a:endParaRPr sz="1200" b="1">
              <a:solidFill>
                <a:srgbClr val="F4C95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666750" y="1619250"/>
            <a:ext cx="3429000" cy="2095500"/>
          </a:xfrm>
          <a:prstGeom prst="roundRect">
            <a:avLst>
              <a:gd name="adj" fmla="val 3636"/>
            </a:avLst>
          </a:prstGeom>
          <a:solidFill>
            <a:srgbClr val="151E2D"/>
          </a:solidFill>
          <a:ln w="11430">
            <a:solidFill>
              <a:srgbClr val="34445F"/>
            </a:solidFill>
          </a:ln>
        </p:spPr>
      </p:sp>
      <p:sp>
        <p:nvSpPr>
          <p:cNvPr id="9" name="圆角矩形 8"/>
          <p:cNvSpPr>
            <a:spLocks noGrp="1"/>
          </p:cNvSpPr>
          <p:nvPr/>
        </p:nvSpPr>
        <p:spPr>
          <a:xfrm>
            <a:off x="876300" y="1809750"/>
            <a:ext cx="3009900" cy="1676400"/>
          </a:xfrm>
          <a:prstGeom prst="roundRect">
            <a:avLst>
              <a:gd name="adj" fmla="val 2273"/>
            </a:avLst>
          </a:prstGeom>
          <a:solidFill>
            <a:srgbClr val="24344A"/>
          </a:solidFill>
          <a:ln w="11430">
            <a:solidFill>
              <a:srgbClr val="34445F"/>
            </a:solidFill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876300" y="1809750"/>
            <a:ext cx="3009900" cy="552450"/>
          </a:xfrm>
          <a:prstGeom prst="rect">
            <a:avLst/>
          </a:prstGeom>
          <a:solidFill>
            <a:srgbClr val="355F43"/>
          </a:solidFill>
          <a:ln w="0">
            <a:solidFill>
              <a:srgbClr val="355F43"/>
            </a:solidFill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876300" y="2362200"/>
            <a:ext cx="3009900" cy="1123950"/>
          </a:xfrm>
          <a:prstGeom prst="rect">
            <a:avLst/>
          </a:prstGeom>
          <a:solidFill>
            <a:srgbClr val="6F654E"/>
          </a:solidFill>
          <a:ln w="0">
            <a:solidFill>
              <a:srgbClr val="6F654E"/>
            </a:solidFill>
          </a:ln>
        </p:spPr>
      </p:sp>
      <p:sp>
        <p:nvSpPr>
          <p:cNvPr id="12" name="圆角矩形 11"/>
          <p:cNvSpPr>
            <a:spLocks noGrp="1"/>
          </p:cNvSpPr>
          <p:nvPr/>
        </p:nvSpPr>
        <p:spPr>
          <a:xfrm>
            <a:off x="1066800" y="2000250"/>
            <a:ext cx="495300" cy="495300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 w="11430">
            <a:solidFill>
              <a:srgbClr val="F4C95D"/>
            </a:solidFill>
          </a:ln>
        </p:spPr>
      </p:sp>
      <p:sp>
        <p:nvSpPr>
          <p:cNvPr id="13" name="圆角矩形 12"/>
          <p:cNvSpPr>
            <a:spLocks noGrp="1"/>
          </p:cNvSpPr>
          <p:nvPr/>
        </p:nvSpPr>
        <p:spPr>
          <a:xfrm>
            <a:off x="3171825" y="2743200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10233D"/>
          </a:solidFill>
          <a:ln w="11430">
            <a:solidFill>
              <a:srgbClr val="58D7FF"/>
            </a:solidFill>
          </a:ln>
        </p:spPr>
      </p:sp>
      <p:sp>
        <p:nvSpPr>
          <p:cNvPr id="14" name="圆角矩形 13"/>
          <p:cNvSpPr>
            <a:spLocks noGrp="1"/>
          </p:cNvSpPr>
          <p:nvPr/>
        </p:nvSpPr>
        <p:spPr>
          <a:xfrm>
            <a:off x="2705100" y="3028950"/>
            <a:ext cx="400050" cy="400050"/>
          </a:xfrm>
          <a:prstGeom prst="roundRect">
            <a:avLst>
              <a:gd name="adj" fmla="val 50000"/>
            </a:avLst>
          </a:prstGeom>
          <a:solidFill>
            <a:srgbClr val="6F1622"/>
          </a:solidFill>
          <a:ln w="11430">
            <a:solidFill>
              <a:srgbClr val="FF7A72"/>
            </a:solidFill>
          </a:ln>
        </p:spPr>
      </p:sp>
      <p:sp>
        <p:nvSpPr>
          <p:cNvPr id="15" name="圆角矩形 14"/>
          <p:cNvSpPr>
            <a:spLocks noGrp="1"/>
          </p:cNvSpPr>
          <p:nvPr/>
        </p:nvSpPr>
        <p:spPr>
          <a:xfrm>
            <a:off x="1962150" y="2152650"/>
            <a:ext cx="800100" cy="266700"/>
          </a:xfrm>
          <a:prstGeom prst="roundRect">
            <a:avLst>
              <a:gd name="adj" fmla="val 21429"/>
            </a:avLst>
          </a:prstGeom>
          <a:solidFill>
            <a:srgbClr val="0F1420"/>
          </a:solidFill>
          <a:ln w="11430">
            <a:solidFill>
              <a:srgbClr val="F4C95D"/>
            </a:solidFill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1981200" y="2181225"/>
            <a:ext cx="762000" cy="17145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 fontScale="69444"/>
          </a:bodyPr>
          <a:lstStyle/>
          <a:p>
            <a:pPr algn="ctr">
              <a:defRPr sz="900" b="1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Chapter 2-3</a:t>
            </a:r>
            <a:endParaRPr sz="900" b="1">
              <a:solidFill>
                <a:srgbClr val="F6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895350" y="3467100"/>
            <a:ext cx="2952750" cy="209550"/>
          </a:xfrm>
          <a:prstGeom prst="rect">
            <a:avLst/>
          </a:prstGeom>
          <a:solidFill>
            <a:srgbClr val="151E2D"/>
          </a:solidFill>
          <a:ln w="0">
            <a:solidFill>
              <a:srgbClr val="151E2D"/>
            </a:solidFill>
          </a:ln>
        </p:spPr>
        <p:txBody>
          <a:bodyPr wrap="square" lIns="57150" tIns="38100" rIns="57150" bIns="38100" anchor="t">
            <a:normAutofit fontScale="83333"/>
          </a:bodyPr>
          <a:lstStyle/>
          <a:p>
            <a:pPr algn="ctr">
              <a:defRPr sz="1050" b="0">
                <a:solidFill>
                  <a:srgbClr val="AEB8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AEB8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可读性优先的战斗 HUD 示意</a:t>
            </a:r>
            <a:endParaRPr sz="1050" b="0">
              <a:solidFill>
                <a:srgbClr val="AEB8C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4762500" y="1695450"/>
            <a:ext cx="2667000" cy="1104900"/>
          </a:xfrm>
          <a:prstGeom prst="roundRect">
            <a:avLst>
              <a:gd name="adj" fmla="val 6897"/>
            </a:avLst>
          </a:prstGeom>
          <a:solidFill>
            <a:srgbClr val="182133"/>
          </a:solidFill>
          <a:ln w="11430">
            <a:solidFill>
              <a:srgbClr val="F4C95D"/>
            </a:solidFill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4895850" y="1809750"/>
            <a:ext cx="2400300" cy="24765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 fontScale="83333"/>
          </a:bodyPr>
          <a:lstStyle/>
          <a:p>
            <a:pPr algn="l">
              <a:defRPr sz="1350" b="1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战斗反馈</a:t>
            </a:r>
            <a:endParaRPr sz="1350" b="1">
              <a:solidFill>
                <a:srgbClr val="F6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4895850" y="2095500"/>
            <a:ext cx="2400300" cy="62865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defRPr sz="1050" b="0">
                <a:solidFill>
                  <a:srgbClr val="AEB8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AEB8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伤害飘字、命中反馈、状态提示和镜头/特效</a:t>
            </a:r>
            <a:endParaRPr sz="1050" b="0">
              <a:solidFill>
                <a:srgbClr val="AEB8C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圆角矩形 20"/>
          <p:cNvSpPr>
            <a:spLocks noGrp="1"/>
          </p:cNvSpPr>
          <p:nvPr/>
        </p:nvSpPr>
        <p:spPr>
          <a:xfrm>
            <a:off x="7905750" y="1695450"/>
            <a:ext cx="2667000" cy="1104900"/>
          </a:xfrm>
          <a:prstGeom prst="roundRect">
            <a:avLst>
              <a:gd name="adj" fmla="val 6897"/>
            </a:avLst>
          </a:prstGeom>
          <a:solidFill>
            <a:srgbClr val="182133"/>
          </a:solidFill>
          <a:ln w="11430">
            <a:solidFill>
              <a:srgbClr val="58D7FF"/>
            </a:solidFill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8039100" y="1809750"/>
            <a:ext cx="2400300" cy="24765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 fontScale="83333"/>
          </a:bodyPr>
          <a:lstStyle/>
          <a:p>
            <a:pPr algn="l">
              <a:defRPr sz="1350" b="1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信息面板</a:t>
            </a:r>
            <a:endParaRPr sz="1350" b="1">
              <a:solidFill>
                <a:srgbClr val="F6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8039100" y="2095500"/>
            <a:ext cx="2400300" cy="62865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defRPr sz="1050" b="0">
                <a:solidFill>
                  <a:srgbClr val="AEB8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AEB8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技能说明、敌方意图、速度按钮可见性</a:t>
            </a:r>
            <a:endParaRPr sz="1050" b="0">
              <a:solidFill>
                <a:srgbClr val="AEB8C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圆角矩形 23"/>
          <p:cNvSpPr>
            <a:spLocks noGrp="1"/>
          </p:cNvSpPr>
          <p:nvPr/>
        </p:nvSpPr>
        <p:spPr>
          <a:xfrm>
            <a:off x="4762500" y="3390900"/>
            <a:ext cx="2667000" cy="1104900"/>
          </a:xfrm>
          <a:prstGeom prst="roundRect">
            <a:avLst>
              <a:gd name="adj" fmla="val 6897"/>
            </a:avLst>
          </a:prstGeom>
          <a:solidFill>
            <a:srgbClr val="182133"/>
          </a:solidFill>
          <a:ln w="11430">
            <a:solidFill>
              <a:srgbClr val="74D680"/>
            </a:solidFill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4895850" y="3505200"/>
            <a:ext cx="2400300" cy="24765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 fontScale="83333"/>
          </a:bodyPr>
          <a:lstStyle/>
          <a:p>
            <a:pPr algn="l">
              <a:defRPr sz="1350" b="1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音频与节奏</a:t>
            </a:r>
            <a:endParaRPr sz="1350" b="1">
              <a:solidFill>
                <a:srgbClr val="F6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4895850" y="3790950"/>
            <a:ext cx="2400300" cy="62865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defRPr sz="1050" b="0">
                <a:solidFill>
                  <a:srgbClr val="AEB8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AEB8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按钮、战斗结算、奖励获得增强回合确认感</a:t>
            </a:r>
            <a:endParaRPr sz="1050" b="0">
              <a:solidFill>
                <a:srgbClr val="AEB8C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圆角矩形 26"/>
          <p:cNvSpPr>
            <a:spLocks noGrp="1"/>
          </p:cNvSpPr>
          <p:nvPr/>
        </p:nvSpPr>
        <p:spPr>
          <a:xfrm>
            <a:off x="7905750" y="3390900"/>
            <a:ext cx="2667000" cy="1104900"/>
          </a:xfrm>
          <a:prstGeom prst="roundRect">
            <a:avLst>
              <a:gd name="adj" fmla="val 6897"/>
            </a:avLst>
          </a:prstGeom>
          <a:solidFill>
            <a:srgbClr val="182133"/>
          </a:solidFill>
          <a:ln w="11430">
            <a:solidFill>
              <a:srgbClr val="B69CFF"/>
            </a:solidFill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8039100" y="3505200"/>
            <a:ext cx="2400300" cy="24765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 fontScale="83333"/>
          </a:bodyPr>
          <a:lstStyle/>
          <a:p>
            <a:pPr algn="l">
              <a:defRPr sz="1350" b="1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层级管理</a:t>
            </a:r>
            <a:endParaRPr sz="1350" b="1">
              <a:solidFill>
                <a:srgbClr val="F6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8039100" y="3790950"/>
            <a:ext cx="2400300" cy="62865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defRPr sz="1050" b="0">
                <a:solidFill>
                  <a:srgbClr val="AEB8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AEB8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HUD、弹窗和教程遮罩需要明确排序策略</a:t>
            </a:r>
            <a:endParaRPr sz="1050" b="0">
              <a:solidFill>
                <a:srgbClr val="AEB8C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762000" y="5143500"/>
            <a:ext cx="9906000" cy="57150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95250" tIns="76200" rIns="95250" bIns="76200" anchor="t">
            <a:normAutofit fontScale="96491"/>
          </a:bodyPr>
          <a:lstStyle/>
          <a:p>
            <a:pPr algn="l">
              <a:defRPr sz="1425" b="0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答辩重点：反馈要让玩家明白为什么发生，而不是只知道发生了什么</a:t>
            </a:r>
            <a:endParaRPr sz="1425" b="0">
              <a:solidFill>
                <a:srgbClr val="F6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425" b="0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事件弹窗排序修复说明 UI 层级是移动端项目中真实的工程风险</a:t>
            </a:r>
            <a:endParaRPr sz="1425" b="0">
              <a:solidFill>
                <a:srgbClr val="F6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514350" y="247650"/>
            <a:ext cx="4762500" cy="26670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defRPr sz="1125" b="1">
                <a:solidFill>
                  <a:srgbClr val="F4C9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F4C9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 工程质量与测试体系</a:t>
            </a:r>
            <a:endParaRPr sz="1125" b="1">
              <a:solidFill>
                <a:srgbClr val="F4C95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76250" y="533400"/>
            <a:ext cx="10668000" cy="59055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defRPr sz="2400" b="1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测试体系覆盖核心规则，保证复杂效果迭代后仍可回归</a:t>
            </a:r>
            <a:endParaRPr sz="2400" b="1">
              <a:solidFill>
                <a:srgbClr val="F6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476250" y="1162050"/>
            <a:ext cx="11239500" cy="17145"/>
          </a:xfrm>
          <a:prstGeom prst="rect">
            <a:avLst/>
          </a:prstGeom>
          <a:solidFill>
            <a:srgbClr val="34445F"/>
          </a:solidFill>
          <a:ln w="0">
            <a:solidFill>
              <a:srgbClr val="34445F"/>
            </a:solidFill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476250" y="6429375"/>
            <a:ext cx="7239000" cy="20955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 fontScale="89744"/>
          </a:bodyPr>
          <a:lstStyle/>
          <a:p>
            <a:pPr algn="l">
              <a:defRPr sz="975" b="0">
                <a:solidFill>
                  <a:srgbClr val="7F8AA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7F8AA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Mobile Roguelite Turn-Based Game · Unity / Tuanjie 2022.3</a:t>
            </a:r>
            <a:endParaRPr sz="975" b="0">
              <a:solidFill>
                <a:srgbClr val="7F8AA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144250" y="6362700"/>
            <a:ext cx="571500" cy="26670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/>
          </a:bodyPr>
          <a:lstStyle/>
          <a:p>
            <a:pPr algn="r">
              <a:defRPr sz="1200" b="1">
                <a:solidFill>
                  <a:srgbClr val="F4C9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4C9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</a:t>
            </a:r>
            <a:endParaRPr sz="1200" b="1">
              <a:solidFill>
                <a:srgbClr val="F4C95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762000" y="1714500"/>
            <a:ext cx="2190750" cy="1104900"/>
          </a:xfrm>
          <a:prstGeom prst="roundRect">
            <a:avLst>
              <a:gd name="adj" fmla="val 6897"/>
            </a:avLst>
          </a:prstGeom>
          <a:solidFill>
            <a:srgbClr val="182133"/>
          </a:solidFill>
          <a:ln w="11430">
            <a:solidFill>
              <a:srgbClr val="34445F"/>
            </a:solidFill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914400" y="1885950"/>
            <a:ext cx="1885950" cy="38100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 fontScale="88889"/>
          </a:bodyPr>
          <a:lstStyle/>
          <a:p>
            <a:pPr algn="l">
              <a:defRPr sz="2250" b="1">
                <a:solidFill>
                  <a:srgbClr val="74D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74D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194</a:t>
            </a:r>
            <a:endParaRPr sz="2250" b="1">
              <a:solidFill>
                <a:srgbClr val="74D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914400" y="2419350"/>
            <a:ext cx="1885950" cy="28575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defRPr sz="1125" b="0">
                <a:solidFill>
                  <a:srgbClr val="AEB8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AEB8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EditMode 测试脚本</a:t>
            </a:r>
            <a:endParaRPr sz="1125" b="0">
              <a:solidFill>
                <a:srgbClr val="AEB8C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3333750" y="1714500"/>
            <a:ext cx="2095500" cy="1104900"/>
          </a:xfrm>
          <a:prstGeom prst="roundRect">
            <a:avLst>
              <a:gd name="adj" fmla="val 6897"/>
            </a:avLst>
          </a:prstGeom>
          <a:solidFill>
            <a:srgbClr val="182133"/>
          </a:solidFill>
          <a:ln w="11430">
            <a:solidFill>
              <a:srgbClr val="34445F"/>
            </a:solidFill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3486150" y="1885950"/>
            <a:ext cx="1790700" cy="38100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 fontScale="88889"/>
          </a:bodyPr>
          <a:lstStyle/>
          <a:p>
            <a:pPr algn="l">
              <a:defRPr sz="2250" b="1">
                <a:solidFill>
                  <a:srgbClr val="58D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58D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2250" b="1">
              <a:solidFill>
                <a:srgbClr val="58D7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3486150" y="2419350"/>
            <a:ext cx="1790700" cy="28575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defRPr sz="1125" b="0">
                <a:solidFill>
                  <a:srgbClr val="AEB8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AEB8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PlayMode 测试脚本</a:t>
            </a:r>
            <a:endParaRPr sz="1125" b="0">
              <a:solidFill>
                <a:srgbClr val="AEB8C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5810250" y="1714500"/>
            <a:ext cx="2381250" cy="1104900"/>
          </a:xfrm>
          <a:prstGeom prst="roundRect">
            <a:avLst>
              <a:gd name="adj" fmla="val 6897"/>
            </a:avLst>
          </a:prstGeom>
          <a:solidFill>
            <a:srgbClr val="182133"/>
          </a:solidFill>
          <a:ln w="11430">
            <a:solidFill>
              <a:srgbClr val="34445F"/>
            </a:solidFill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5962650" y="1885950"/>
            <a:ext cx="2076450" cy="38100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 fontScale="88889"/>
          </a:bodyPr>
          <a:lstStyle/>
          <a:p>
            <a:pPr algn="l">
              <a:defRPr sz="2250" b="1">
                <a:solidFill>
                  <a:srgbClr val="F4C9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F4C9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Rules</a:t>
            </a:r>
            <a:endParaRPr sz="2250" b="1">
              <a:solidFill>
                <a:srgbClr val="F4C95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5962650" y="2419350"/>
            <a:ext cx="2076450" cy="28575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defRPr sz="1125" b="0">
                <a:solidFill>
                  <a:srgbClr val="AEB8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AEB8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Shared 服务优先测试</a:t>
            </a:r>
            <a:endParaRPr sz="1125" b="0">
              <a:solidFill>
                <a:srgbClr val="AEB8C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762000" y="3619500"/>
            <a:ext cx="2571750" cy="1143000"/>
          </a:xfrm>
          <a:prstGeom prst="roundRect">
            <a:avLst>
              <a:gd name="adj" fmla="val 6667"/>
            </a:avLst>
          </a:prstGeom>
          <a:solidFill>
            <a:srgbClr val="182133"/>
          </a:solidFill>
          <a:ln w="11430">
            <a:solidFill>
              <a:srgbClr val="74D680"/>
            </a:solidFill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895350" y="3733800"/>
            <a:ext cx="2305050" cy="24765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 fontScale="83333"/>
          </a:bodyPr>
          <a:lstStyle/>
          <a:p>
            <a:pPr algn="l">
              <a:defRPr sz="1350" b="1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单元级规则</a:t>
            </a:r>
            <a:endParaRPr sz="1350" b="1">
              <a:solidFill>
                <a:srgbClr val="F6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95350" y="4019550"/>
            <a:ext cx="2305050" cy="66675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defRPr sz="1050" b="0">
                <a:solidFill>
                  <a:srgbClr val="AEB8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AEB8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骰子、遗物、召唤、状态和奖励计算</a:t>
            </a:r>
            <a:endParaRPr sz="1050" b="0">
              <a:solidFill>
                <a:srgbClr val="AEB8C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3857625" y="3619500"/>
            <a:ext cx="2571750" cy="1143000"/>
          </a:xfrm>
          <a:prstGeom prst="roundRect">
            <a:avLst>
              <a:gd name="adj" fmla="val 6667"/>
            </a:avLst>
          </a:prstGeom>
          <a:solidFill>
            <a:srgbClr val="182133"/>
          </a:solidFill>
          <a:ln w="11430">
            <a:solidFill>
              <a:srgbClr val="58D7FF"/>
            </a:solidFill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3990975" y="3733800"/>
            <a:ext cx="2305050" cy="24765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 fontScale="83333"/>
          </a:bodyPr>
          <a:lstStyle/>
          <a:p>
            <a:pPr algn="l">
              <a:defRPr sz="1350" b="1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回归案例</a:t>
            </a:r>
            <a:endParaRPr sz="1350" b="1">
              <a:solidFill>
                <a:srgbClr val="F6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3990975" y="4019550"/>
            <a:ext cx="2305050" cy="66675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defRPr sz="1050" b="0">
                <a:solidFill>
                  <a:srgbClr val="AEB8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AEB8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把玩家反馈转成可复现测试</a:t>
            </a:r>
            <a:endParaRPr sz="1050" b="0">
              <a:solidFill>
                <a:srgbClr val="AEB8C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6953250" y="3619500"/>
            <a:ext cx="2857500" cy="1143000"/>
          </a:xfrm>
          <a:prstGeom prst="roundRect">
            <a:avLst>
              <a:gd name="adj" fmla="val 6667"/>
            </a:avLst>
          </a:prstGeom>
          <a:solidFill>
            <a:srgbClr val="182133"/>
          </a:solidFill>
          <a:ln w="11430">
            <a:solidFill>
              <a:srgbClr val="F4C95D"/>
            </a:solidFill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7086600" y="3733800"/>
            <a:ext cx="2590800" cy="24765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 fontScale="83333"/>
          </a:bodyPr>
          <a:lstStyle/>
          <a:p>
            <a:pPr algn="l">
              <a:defRPr sz="1350" b="1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编辑器测试</a:t>
            </a:r>
            <a:endParaRPr sz="1350" b="1">
              <a:solidFill>
                <a:srgbClr val="F6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7086600" y="4019550"/>
            <a:ext cx="2590800" cy="66675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defRPr sz="1050" b="0">
                <a:solidFill>
                  <a:srgbClr val="AEB8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AEB8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不依赖完整运行场景即可验证核心服务</a:t>
            </a:r>
            <a:endParaRPr sz="1050" b="0">
              <a:solidFill>
                <a:srgbClr val="AEB8C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762000" y="5095875"/>
            <a:ext cx="10001250" cy="55245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95250" tIns="76200" rIns="95250" bIns="76200" anchor="t">
            <a:normAutofit fontScale="92105"/>
          </a:bodyPr>
          <a:lstStyle/>
          <a:p>
            <a:pPr algn="l">
              <a:defRPr sz="1425" b="0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测试分布说明项目不是只完成表现层，而是沉淀了可验证规则层</a:t>
            </a:r>
            <a:endParaRPr sz="1425" b="0">
              <a:solidFill>
                <a:srgbClr val="F6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425" b="0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新增修复会补充对应 EditMode 测试，降低同类问题反复出现</a:t>
            </a:r>
            <a:endParaRPr sz="1425" b="0">
              <a:solidFill>
                <a:srgbClr val="F6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圆角矩形 26"/>
          <p:cNvSpPr>
            <a:spLocks noGrp="1"/>
          </p:cNvSpPr>
          <p:nvPr/>
        </p:nvSpPr>
        <p:spPr>
          <a:xfrm>
            <a:off x="762000" y="5762625"/>
            <a:ext cx="10001250" cy="495300"/>
          </a:xfrm>
          <a:prstGeom prst="roundRect">
            <a:avLst>
              <a:gd name="adj" fmla="val 15385"/>
            </a:avLst>
          </a:prstGeom>
          <a:solidFill>
            <a:srgbClr val="121A28"/>
          </a:solidFill>
          <a:ln w="11430">
            <a:solidFill>
              <a:srgbClr val="34445F"/>
            </a:solidFill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914400" y="5857875"/>
            <a:ext cx="9696450" cy="209550"/>
          </a:xfrm>
          <a:prstGeom prst="rect">
            <a:avLst/>
          </a:prstGeom>
          <a:solidFill>
            <a:srgbClr val="121A28"/>
          </a:solidFill>
          <a:ln w="0">
            <a:solidFill>
              <a:srgbClr val="121A28"/>
            </a:solidFill>
          </a:ln>
        </p:spPr>
        <p:txBody>
          <a:bodyPr wrap="square" lIns="57150" tIns="38100" rIns="57150" bIns="38100" anchor="t">
            <a:normAutofit fontScale="89744"/>
          </a:bodyPr>
          <a:lstStyle/>
          <a:p>
            <a:pPr algn="l">
              <a:defRPr sz="975" b="1">
                <a:solidFill>
                  <a:srgbClr val="F4C9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F4C9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Recent regression tests</a:t>
            </a:r>
            <a:endParaRPr sz="975" b="1">
              <a:solidFill>
                <a:srgbClr val="F4C95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933450" y="6086475"/>
            <a:ext cx="9658350" cy="95250"/>
          </a:xfrm>
          <a:prstGeom prst="rect">
            <a:avLst/>
          </a:prstGeom>
          <a:solidFill>
            <a:srgbClr val="121A28"/>
          </a:solidFill>
          <a:ln w="0">
            <a:solidFill>
              <a:srgbClr val="121A28"/>
            </a:solidFill>
          </a:ln>
        </p:spPr>
        <p:txBody>
          <a:bodyPr wrap="square" lIns="19050" tIns="19050" rIns="19050" bIns="19050" anchor="t">
            <a:normAutofit fontScale="16667"/>
          </a:bodyPr>
          <a:lstStyle/>
          <a:p>
            <a:pPr algn="l">
              <a:defRPr sz="750" b="0">
                <a:solidFill>
                  <a:srgbClr val="DCE6F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750" b="0">
                <a:solidFill>
                  <a:srgbClr val="DCE6F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MapEventOverlayTests.cs</a:t>
            </a:r>
            <a:endParaRPr sz="750" b="0">
              <a:solidFill>
                <a:srgbClr val="DCE6F5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750" b="0">
                <a:solidFill>
                  <a:srgbClr val="DCE6F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750" b="0">
                <a:solidFill>
                  <a:srgbClr val="DCE6F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BattleSummonEffectServiceTests.cs</a:t>
            </a:r>
            <a:endParaRPr sz="750" b="0">
              <a:solidFill>
                <a:srgbClr val="DCE6F5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750" b="0">
                <a:solidFill>
                  <a:srgbClr val="DCE6F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750" b="0">
                <a:solidFill>
                  <a:srgbClr val="DCE6F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RelicRoundStartSpeedStatusTests.cs</a:t>
            </a:r>
            <a:endParaRPr sz="750" b="0">
              <a:solidFill>
                <a:srgbClr val="DCE6F5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514350" y="247650"/>
            <a:ext cx="4762500" cy="26670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defRPr sz="1125" b="1">
                <a:solidFill>
                  <a:srgbClr val="F4C9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F4C9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 后续优化与扩展规划</a:t>
            </a:r>
            <a:endParaRPr sz="1125" b="1">
              <a:solidFill>
                <a:srgbClr val="F4C95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76250" y="533400"/>
            <a:ext cx="10668000" cy="59055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defRPr sz="2400" b="1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后续优化会沿着内容规模、移动端体验和工具化三条线推进</a:t>
            </a:r>
            <a:endParaRPr sz="2400" b="1">
              <a:solidFill>
                <a:srgbClr val="F6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476250" y="1162050"/>
            <a:ext cx="11239500" cy="17145"/>
          </a:xfrm>
          <a:prstGeom prst="rect">
            <a:avLst/>
          </a:prstGeom>
          <a:solidFill>
            <a:srgbClr val="34445F"/>
          </a:solidFill>
          <a:ln w="0">
            <a:solidFill>
              <a:srgbClr val="34445F"/>
            </a:solidFill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476250" y="6429375"/>
            <a:ext cx="7239000" cy="20955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 fontScale="89744"/>
          </a:bodyPr>
          <a:lstStyle/>
          <a:p>
            <a:pPr algn="l">
              <a:defRPr sz="975" b="0">
                <a:solidFill>
                  <a:srgbClr val="7F8AA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7F8AA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Mobile Roguelite Turn-Based Game · Unity / Tuanjie 2022.3</a:t>
            </a:r>
            <a:endParaRPr sz="975" b="0">
              <a:solidFill>
                <a:srgbClr val="7F8AA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144250" y="6362700"/>
            <a:ext cx="571500" cy="26670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/>
          </a:bodyPr>
          <a:lstStyle/>
          <a:p>
            <a:pPr algn="r">
              <a:defRPr sz="1200" b="1">
                <a:solidFill>
                  <a:srgbClr val="F4C9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4C9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14</a:t>
            </a:r>
            <a:endParaRPr sz="1200" b="1">
              <a:solidFill>
                <a:srgbClr val="F4C95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762000" y="1733550"/>
            <a:ext cx="2476500" cy="1219200"/>
          </a:xfrm>
          <a:prstGeom prst="roundRect">
            <a:avLst>
              <a:gd name="adj" fmla="val 6250"/>
            </a:avLst>
          </a:prstGeom>
          <a:solidFill>
            <a:srgbClr val="182133"/>
          </a:solidFill>
          <a:ln w="11430">
            <a:solidFill>
              <a:srgbClr val="F4C95D"/>
            </a:solidFill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895350" y="1847850"/>
            <a:ext cx="2209800" cy="24765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 fontScale="83333"/>
          </a:bodyPr>
          <a:lstStyle/>
          <a:p>
            <a:pPr algn="l">
              <a:defRPr sz="1350" b="1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内容扩展</a:t>
            </a:r>
            <a:endParaRPr sz="1350" b="1">
              <a:solidFill>
                <a:srgbClr val="F6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95350" y="2133600"/>
            <a:ext cx="2209800" cy="74295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defRPr sz="1050" b="0">
                <a:solidFill>
                  <a:srgbClr val="AEB8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AEB8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补充敌人组、事件池、遗物联动和 Boss 机制</a:t>
            </a:r>
            <a:endParaRPr sz="1050" b="0">
              <a:solidFill>
                <a:srgbClr val="AEB8C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4095750" y="1733550"/>
            <a:ext cx="2571750" cy="1219200"/>
          </a:xfrm>
          <a:prstGeom prst="roundRect">
            <a:avLst>
              <a:gd name="adj" fmla="val 6250"/>
            </a:avLst>
          </a:prstGeom>
          <a:solidFill>
            <a:srgbClr val="182133"/>
          </a:solidFill>
          <a:ln w="11430">
            <a:solidFill>
              <a:srgbClr val="58D7FF"/>
            </a:solidFill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4229100" y="1847850"/>
            <a:ext cx="2305050" cy="24765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 fontScale="83333"/>
          </a:bodyPr>
          <a:lstStyle/>
          <a:p>
            <a:pPr algn="l">
              <a:defRPr sz="1350" b="1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体验打磨</a:t>
            </a:r>
            <a:endParaRPr sz="1350" b="1">
              <a:solidFill>
                <a:srgbClr val="F6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4229100" y="2133600"/>
            <a:ext cx="2305050" cy="74295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defRPr sz="1050" b="0">
                <a:solidFill>
                  <a:srgbClr val="AEB8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AEB8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移动端触控、信息密度、性能与加载节奏</a:t>
            </a:r>
            <a:endParaRPr sz="1050" b="0">
              <a:solidFill>
                <a:srgbClr val="AEB8C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7524750" y="1733550"/>
            <a:ext cx="2667000" cy="1219200"/>
          </a:xfrm>
          <a:prstGeom prst="roundRect">
            <a:avLst>
              <a:gd name="adj" fmla="val 6250"/>
            </a:avLst>
          </a:prstGeom>
          <a:solidFill>
            <a:srgbClr val="182133"/>
          </a:solidFill>
          <a:ln w="11430">
            <a:solidFill>
              <a:srgbClr val="74D680"/>
            </a:solidFill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7658100" y="1847850"/>
            <a:ext cx="2400300" cy="24765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 fontScale="83333"/>
          </a:bodyPr>
          <a:lstStyle/>
          <a:p>
            <a:pPr algn="l">
              <a:defRPr sz="1350" b="1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工具化</a:t>
            </a:r>
            <a:endParaRPr sz="1350" b="1">
              <a:solidFill>
                <a:srgbClr val="F6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7658100" y="2133600"/>
            <a:ext cx="2400300" cy="74295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defRPr sz="1050" b="0">
                <a:solidFill>
                  <a:srgbClr val="AEB8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AEB8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关卡/遗物校验器、自动截图、平衡性报表</a:t>
            </a:r>
            <a:endParaRPr sz="1050" b="0">
              <a:solidFill>
                <a:srgbClr val="AEB8C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3238500" y="2343150"/>
            <a:ext cx="857250" cy="28575"/>
          </a:xfrm>
          <a:prstGeom prst="rect">
            <a:avLst/>
          </a:prstGeom>
          <a:solidFill>
            <a:srgbClr val="F4C95D"/>
          </a:solidFill>
          <a:ln w="0">
            <a:solidFill>
              <a:srgbClr val="F4C95D"/>
            </a:solidFill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4000500" y="2295525"/>
            <a:ext cx="114300" cy="114300"/>
          </a:xfrm>
          <a:prstGeom prst="rect">
            <a:avLst/>
          </a:prstGeom>
          <a:solidFill>
            <a:srgbClr val="F4C95D"/>
          </a:solidFill>
          <a:ln w="0">
            <a:solidFill>
              <a:srgbClr val="F4C95D"/>
            </a:solidFill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6667500" y="2343150"/>
            <a:ext cx="857250" cy="28575"/>
          </a:xfrm>
          <a:prstGeom prst="rect">
            <a:avLst/>
          </a:prstGeom>
          <a:solidFill>
            <a:srgbClr val="58D7FF"/>
          </a:solidFill>
          <a:ln w="0">
            <a:solidFill>
              <a:srgbClr val="58D7FF"/>
            </a:solidFill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7429500" y="2295525"/>
            <a:ext cx="114300" cy="114300"/>
          </a:xfrm>
          <a:prstGeom prst="rect">
            <a:avLst/>
          </a:prstGeom>
          <a:solidFill>
            <a:srgbClr val="58D7FF"/>
          </a:solidFill>
          <a:ln w="0">
            <a:solidFill>
              <a:srgbClr val="58D7FF"/>
            </a:solidFill>
          </a:ln>
        </p:spPr>
      </p:sp>
      <p:sp>
        <p:nvSpPr>
          <p:cNvPr id="21" name="圆角矩形 20"/>
          <p:cNvSpPr>
            <a:spLocks noGrp="1"/>
          </p:cNvSpPr>
          <p:nvPr/>
        </p:nvSpPr>
        <p:spPr>
          <a:xfrm>
            <a:off x="857250" y="3790950"/>
            <a:ext cx="9429750" cy="1162050"/>
          </a:xfrm>
          <a:prstGeom prst="roundRect">
            <a:avLst>
              <a:gd name="adj" fmla="val 6557"/>
            </a:avLst>
          </a:prstGeom>
          <a:solidFill>
            <a:srgbClr val="151E2D"/>
          </a:solidFill>
          <a:ln w="11430">
            <a:solidFill>
              <a:srgbClr val="34445F"/>
            </a:solidFill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1123950" y="4000500"/>
            <a:ext cx="1524000" cy="285750"/>
          </a:xfrm>
          <a:prstGeom prst="rect">
            <a:avLst/>
          </a:prstGeom>
          <a:solidFill>
            <a:srgbClr val="151E2D"/>
          </a:solidFill>
          <a:ln w="0">
            <a:solidFill>
              <a:srgbClr val="151E2D"/>
            </a:solidFill>
          </a:ln>
        </p:spPr>
        <p:txBody>
          <a:bodyPr wrap="square" lIns="57150" tIns="38100" rIns="57150" bIns="38100" anchor="t">
            <a:normAutofit fontScale="83333"/>
          </a:bodyPr>
          <a:lstStyle/>
          <a:p>
            <a:pPr algn="l">
              <a:defRPr sz="1650" b="1">
                <a:solidFill>
                  <a:srgbClr val="F4C9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F4C9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优先级判断</a:t>
            </a:r>
            <a:endParaRPr sz="1650" b="1">
              <a:solidFill>
                <a:srgbClr val="F4C95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1104900" y="4400550"/>
            <a:ext cx="8191500" cy="438150"/>
          </a:xfrm>
          <a:prstGeom prst="rect">
            <a:avLst/>
          </a:prstGeom>
          <a:solidFill>
            <a:srgbClr val="151E2D"/>
          </a:solidFill>
          <a:ln w="0">
            <a:solidFill>
              <a:srgbClr val="151E2D"/>
            </a:solidFill>
          </a:ln>
        </p:spPr>
        <p:txBody>
          <a:bodyPr wrap="square" lIns="95250" tIns="76200" rIns="95250" bIns="76200" anchor="t">
            <a:normAutofit fontScale="43860"/>
          </a:bodyPr>
          <a:lstStyle/>
          <a:p>
            <a:pPr algn="l">
              <a:defRPr sz="1425" b="0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先保障核心战斗规则稳定，再扩大内容池</a:t>
            </a:r>
            <a:endParaRPr sz="1425" b="0">
              <a:solidFill>
                <a:srgbClr val="F6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425" b="0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先提升移动端可读性，再增加复杂机制</a:t>
            </a:r>
            <a:endParaRPr sz="1425" b="0">
              <a:solidFill>
                <a:srgbClr val="F6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425" b="0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把重复人工检查沉淀为编辑器工具或测试</a:t>
            </a:r>
            <a:endParaRPr sz="1425" b="0">
              <a:solidFill>
                <a:srgbClr val="F6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1143000" y="5476875"/>
            <a:ext cx="9525000" cy="34290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 fontScale="93333"/>
          </a:bodyPr>
          <a:lstStyle/>
          <a:p>
            <a:pPr algn="l">
              <a:defRPr sz="1875" b="1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规划目标：让项目从“可玩原型”继续走向“可长期迭代的移动端游戏工程”。</a:t>
            </a:r>
            <a:endParaRPr sz="1875" b="1">
              <a:solidFill>
                <a:srgbClr val="F6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514350" y="247650"/>
            <a:ext cx="4762500" cy="26670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defRPr sz="1125" b="1">
                <a:solidFill>
                  <a:srgbClr val="F4C9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F4C9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14 总结</a:t>
            </a:r>
            <a:endParaRPr sz="1125" b="1">
              <a:solidFill>
                <a:srgbClr val="F4C95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76250" y="533400"/>
            <a:ext cx="10668000" cy="59055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defRPr sz="2400" b="1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项目完成了从玩法闭环到工程验证的完整落地</a:t>
            </a:r>
            <a:endParaRPr sz="2400" b="1">
              <a:solidFill>
                <a:srgbClr val="F6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476250" y="1162050"/>
            <a:ext cx="11239500" cy="17145"/>
          </a:xfrm>
          <a:prstGeom prst="rect">
            <a:avLst/>
          </a:prstGeom>
          <a:solidFill>
            <a:srgbClr val="34445F"/>
          </a:solidFill>
          <a:ln w="0">
            <a:solidFill>
              <a:srgbClr val="34445F"/>
            </a:solidFill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476250" y="6429375"/>
            <a:ext cx="7239000" cy="20955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 fontScale="89744"/>
          </a:bodyPr>
          <a:lstStyle/>
          <a:p>
            <a:pPr algn="l">
              <a:defRPr sz="975" b="0">
                <a:solidFill>
                  <a:srgbClr val="7F8AA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7F8AA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Mobile Roguelite Turn-Based Game · Unity / Tuanjie 2022.3</a:t>
            </a:r>
            <a:endParaRPr sz="975" b="0">
              <a:solidFill>
                <a:srgbClr val="7F8AA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144250" y="6362700"/>
            <a:ext cx="571500" cy="26670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/>
          </a:bodyPr>
          <a:lstStyle/>
          <a:p>
            <a:pPr algn="r">
              <a:defRPr sz="1200" b="1">
                <a:solidFill>
                  <a:srgbClr val="F4C9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4C9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</a:t>
            </a:r>
            <a:endParaRPr sz="1200" b="1">
              <a:solidFill>
                <a:srgbClr val="F4C95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838200" y="1695450"/>
            <a:ext cx="2571750" cy="1143000"/>
          </a:xfrm>
          <a:prstGeom prst="roundRect">
            <a:avLst>
              <a:gd name="adj" fmla="val 6667"/>
            </a:avLst>
          </a:prstGeom>
          <a:solidFill>
            <a:srgbClr val="182133"/>
          </a:solidFill>
          <a:ln w="11430">
            <a:solidFill>
              <a:srgbClr val="34445F"/>
            </a:solidFill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990600" y="1866900"/>
            <a:ext cx="2266950" cy="38100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 fontScale="88889"/>
          </a:bodyPr>
          <a:lstStyle/>
          <a:p>
            <a:pPr algn="l">
              <a:defRPr sz="2250" b="1">
                <a:solidFill>
                  <a:srgbClr val="F4C9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F4C9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闭环</a:t>
            </a:r>
            <a:endParaRPr sz="2250" b="1">
              <a:solidFill>
                <a:srgbClr val="F4C95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990600" y="2438400"/>
            <a:ext cx="2266950" cy="28575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defRPr sz="1125" b="0">
                <a:solidFill>
                  <a:srgbClr val="AEB8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AEB8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地图探索 → 战斗 → 奖励构筑</a:t>
            </a:r>
            <a:endParaRPr sz="1125" b="0">
              <a:solidFill>
                <a:srgbClr val="AEB8C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3886200" y="1695450"/>
            <a:ext cx="2857500" cy="1143000"/>
          </a:xfrm>
          <a:prstGeom prst="roundRect">
            <a:avLst>
              <a:gd name="adj" fmla="val 6667"/>
            </a:avLst>
          </a:prstGeom>
          <a:solidFill>
            <a:srgbClr val="182133"/>
          </a:solidFill>
          <a:ln w="11430">
            <a:solidFill>
              <a:srgbClr val="34445F"/>
            </a:solidFill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4038600" y="1866900"/>
            <a:ext cx="2552700" cy="38100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 fontScale="88889"/>
          </a:bodyPr>
          <a:lstStyle/>
          <a:p>
            <a:pPr algn="l">
              <a:defRPr sz="2250" b="1">
                <a:solidFill>
                  <a:srgbClr val="58D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58D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架构</a:t>
            </a:r>
            <a:endParaRPr sz="2250" b="1">
              <a:solidFill>
                <a:srgbClr val="58D7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4038600" y="2438400"/>
            <a:ext cx="2552700" cy="28575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defRPr sz="1125" b="0">
                <a:solidFill>
                  <a:srgbClr val="AEB8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AEB8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场景表现 / 共享规则 / 数据资产</a:t>
            </a:r>
            <a:endParaRPr sz="1125" b="0">
              <a:solidFill>
                <a:srgbClr val="AEB8C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7219950" y="1695450"/>
            <a:ext cx="2952750" cy="1143000"/>
          </a:xfrm>
          <a:prstGeom prst="roundRect">
            <a:avLst>
              <a:gd name="adj" fmla="val 6667"/>
            </a:avLst>
          </a:prstGeom>
          <a:solidFill>
            <a:srgbClr val="182133"/>
          </a:solidFill>
          <a:ln w="11430">
            <a:solidFill>
              <a:srgbClr val="34445F"/>
            </a:solidFill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7372350" y="1866900"/>
            <a:ext cx="2647950" cy="38100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 fontScale="88889"/>
          </a:bodyPr>
          <a:lstStyle/>
          <a:p>
            <a:pPr algn="l">
              <a:defRPr sz="2250" b="1">
                <a:solidFill>
                  <a:srgbClr val="74D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74D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质量</a:t>
            </a:r>
            <a:endParaRPr sz="2250" b="1">
              <a:solidFill>
                <a:srgbClr val="74D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7372350" y="2438400"/>
            <a:ext cx="2647950" cy="28575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defRPr sz="1125" b="0">
                <a:solidFill>
                  <a:srgbClr val="AEB8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AEB8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194 个 EditMode 测试支撑回归</a:t>
            </a:r>
            <a:endParaRPr sz="1125" b="0">
              <a:solidFill>
                <a:srgbClr val="AEB8C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990600" y="3619500"/>
            <a:ext cx="9334500" cy="1276350"/>
          </a:xfrm>
          <a:prstGeom prst="roundRect">
            <a:avLst>
              <a:gd name="adj" fmla="val 5970"/>
            </a:avLst>
          </a:prstGeom>
          <a:solidFill>
            <a:srgbClr val="151E2D"/>
          </a:solidFill>
          <a:ln w="11430">
            <a:solidFill>
              <a:srgbClr val="34445F"/>
            </a:solidFill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1314450" y="3905250"/>
            <a:ext cx="8667750" cy="685800"/>
          </a:xfrm>
          <a:prstGeom prst="rect">
            <a:avLst/>
          </a:prstGeom>
          <a:solidFill>
            <a:srgbClr val="151E2D"/>
          </a:solidFill>
          <a:ln w="0">
            <a:solidFill>
              <a:srgbClr val="151E2D"/>
            </a:solidFill>
          </a:ln>
        </p:spPr>
        <p:txBody>
          <a:bodyPr wrap="square" lIns="95250" tIns="76200" rIns="95250" bIns="76200" anchor="t">
            <a:normAutofit fontScale="70707"/>
          </a:bodyPr>
          <a:lstStyle/>
          <a:p>
            <a:pPr algn="l">
              <a:defRPr sz="1650" b="0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完成移动端 Roguelite 回合制的核心系统实现</a:t>
            </a:r>
            <a:endParaRPr sz="1650" b="0">
              <a:solidFill>
                <a:srgbClr val="F6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650" b="0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通过 ScriptableObject 和 Assets/Data 建立可扩展内容管线</a:t>
            </a:r>
            <a:endParaRPr sz="1650" b="0">
              <a:solidFill>
                <a:srgbClr val="F6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650" b="0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F6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通过问题攻关与测试补充，证明项目具备继续迭代的工程基础</a:t>
            </a:r>
            <a:endParaRPr sz="1650" b="0">
              <a:solidFill>
                <a:srgbClr val="F6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3314700" y="5381625"/>
            <a:ext cx="5334000" cy="552450"/>
          </a:xfrm>
          <a:prstGeom prst="rect">
            <a:avLst/>
          </a:prstGeom>
          <a:solidFill>
            <a:srgbClr val="0F1420"/>
          </a:solidFill>
          <a:ln w="0">
            <a:solidFill>
              <a:srgbClr val="0F1420"/>
            </a:solidFill>
          </a:ln>
        </p:spPr>
        <p:txBody>
          <a:bodyPr wrap="square" lIns="57150" tIns="38100" rIns="57150" bIns="38100" anchor="t">
            <a:normAutofit/>
          </a:bodyPr>
          <a:lstStyle/>
          <a:p>
            <a:pPr algn="ctr">
              <a:defRPr sz="2550" b="1">
                <a:solidFill>
                  <a:srgbClr val="F4C9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F4C9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谢谢老师，请批评指正</a:t>
            </a:r>
            <a:endParaRPr sz="2550" b="1">
              <a:solidFill>
                <a:srgbClr val="F4C95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03.5,&quot;left&quot;:51,&quot;top&quot;:157.5,&quot;width&quot;:837}"/>
</p:tagLst>
</file>

<file path=ppt/tags/tag2.xml><?xml version="1.0" encoding="utf-8"?>
<p:tagLst xmlns:p="http://schemas.openxmlformats.org/presentationml/2006/main">
  <p:tag name="KSO_WM_DIAGRAM_VIRTUALLY_FRAME" val="{&quot;height&quot;:103.5,&quot;left&quot;:51,&quot;top&quot;:157.5,&quot;width&quot;:837}"/>
</p:tagLst>
</file>

<file path=ppt/tags/tag3.xml><?xml version="1.0" encoding="utf-8"?>
<p:tagLst xmlns:p="http://schemas.openxmlformats.org/presentationml/2006/main">
  <p:tag name="KSO_WM_DIAGRAM_VIRTUALLY_FRAME" val="{&quot;height&quot;:103.5,&quot;left&quot;:51,&quot;top&quot;:157.5,&quot;width&quot;:837}"/>
</p:tagLst>
</file>

<file path=ppt/tags/tag4.xml><?xml version="1.0" encoding="utf-8"?>
<p:tagLst xmlns:p="http://schemas.openxmlformats.org/presentationml/2006/main">
  <p:tag name="KSO_WM_DIAGRAM_VIRTUALLY_FRAME" val="{&quot;height&quot;:103.5,&quot;left&quot;:51,&quot;top&quot;:157.5,&quot;width&quot;:837}"/>
</p:tagLst>
</file>

<file path=ppt/tags/tag5.xml><?xml version="1.0" encoding="utf-8"?>
<p:tagLst xmlns:p="http://schemas.openxmlformats.org/presentationml/2006/main">
  <p:tag name="KSO_WM_DIAGRAM_VIRTUALLY_FRAME" val="{&quot;height&quot;:103.5,&quot;left&quot;:51,&quot;top&quot;:157.5,&quot;width&quot;:837}"/>
</p:tagLst>
</file>

<file path=ppt/tags/tag6.xml><?xml version="1.0" encoding="utf-8"?>
<p:tagLst xmlns:p="http://schemas.openxmlformats.org/presentationml/2006/main">
  <p:tag name="KSO_WM_DIAGRAM_VIRTUALLY_FRAME" val="{&quot;height&quot;:103.5,&quot;left&quot;:51,&quot;top&quot;:157.5,&quot;width&quot;:837}"/>
</p:tagLst>
</file>

<file path=ppt/tags/tag7.xml><?xml version="1.0" encoding="utf-8"?>
<p:tagLst xmlns:p="http://schemas.openxmlformats.org/presentationml/2006/main">
  <p:tag name="KSO_WM_DIAGRAM_VIRTUALLY_FRAME" val="{&quot;height&quot;:103.5,&quot;left&quot;:51,&quot;top&quot;:157.5,&quot;width&quot;:837}"/>
</p:tagLst>
</file>

<file path=ppt/tags/tag8.xml><?xml version="1.0" encoding="utf-8"?>
<p:tagLst xmlns:p="http://schemas.openxmlformats.org/presentationml/2006/main">
  <p:tag name="KSO_WM_DIAGRAM_VIRTUALLY_FRAME" val="{&quot;height&quot;:103.5,&quot;left&quot;:51,&quot;top&quot;:157.5,&quot;width&quot;:837}"/>
</p:tagLst>
</file>

<file path=ppt/tags/tag9.xml><?xml version="1.0" encoding="utf-8"?>
<p:tagLst xmlns:p="http://schemas.openxmlformats.org/presentationml/2006/main">
  <p:tag name="KSO_WM_DIAGRAM_VIRTUALLY_FRAME" val="{&quot;height&quot;:103.5,&quot;left&quot;:51,&quot;top&quot;:157.5,&quot;width&quot;:837}"/>
</p:tagLst>
</file>

<file path=ppt/tags/tag10.xml><?xml version="1.0" encoding="utf-8"?>
<p:tagLst xmlns:p="http://schemas.openxmlformats.org/presentationml/2006/main">
  <p:tag name="KSO_WM_DIAGRAM_VIRTUALLY_FRAME" val="{&quot;height&quot;:103.5,&quot;left&quot;:51,&quot;top&quot;:157.5,&quot;width&quot;:837}"/>
</p:tagLst>
</file>

<file path=ppt/tags/tag11.xml><?xml version="1.0" encoding="utf-8"?>
<p:tagLst xmlns:p="http://schemas.openxmlformats.org/presentationml/2006/main">
  <p:tag name="KSO_WM_DIAGRAM_VIRTUALLY_FRAME" val="{&quot;height&quot;:103.5,&quot;left&quot;:51,&quot;top&quot;:157.5,&quot;width&quot;:837}"/>
</p:tagLst>
</file>

<file path=ppt/tags/tag12.xml><?xml version="1.0" encoding="utf-8"?>
<p:tagLst xmlns:p="http://schemas.openxmlformats.org/presentationml/2006/main">
  <p:tag name="KSO_WM_DIAGRAM_VIRTUALLY_FRAME" val="{&quot;height&quot;:103.5,&quot;left&quot;:51,&quot;top&quot;:157.5,&quot;width&quot;:837}"/>
</p:tagLst>
</file>

<file path=ppt/tags/tag13.xml><?xml version="1.0" encoding="utf-8"?>
<p:tagLst xmlns:p="http://schemas.openxmlformats.org/presentationml/2006/main">
  <p:tag name="KSO_WM_DIAGRAM_VIRTUALLY_FRAME" val="{&quot;height&quot;:103.5,&quot;left&quot;:51,&quot;top&quot;:157.5,&quot;width&quot;:837}"/>
</p:tagLst>
</file>

<file path=ppt/tags/tag14.xml><?xml version="1.0" encoding="utf-8"?>
<p:tagLst xmlns:p="http://schemas.openxmlformats.org/presentationml/2006/main">
  <p:tag name="KSO_WM_DIAGRAM_VIRTUALLY_FRAME" val="{&quot;height&quot;:103.5,&quot;left&quot;:51,&quot;top&quot;:157.5,&quot;width&quot;:837}"/>
</p:tagLst>
</file>

<file path=ppt/tags/tag15.xml><?xml version="1.0" encoding="utf-8"?>
<p:tagLst xmlns:p="http://schemas.openxmlformats.org/presentationml/2006/main">
  <p:tag name="KSO_WM_DIAGRAM_VIRTUALLY_FRAME" val="{&quot;height&quot;:103.5,&quot;left&quot;:51,&quot;top&quot;:157.5,&quot;width&quot;:837}"/>
</p:tagLst>
</file>

<file path=ppt/tags/tag16.xml><?xml version="1.0" encoding="utf-8"?>
<p:tagLst xmlns:p="http://schemas.openxmlformats.org/presentationml/2006/main">
  <p:tag name="KSO_WM_DIAGRAM_VIRTUALLY_FRAME" val="{&quot;height&quot;:103.5,&quot;left&quot;:51,&quot;top&quot;:157.5,&quot;width&quot;:837}"/>
</p:tagLst>
</file>

<file path=ppt/tags/tag17.xml><?xml version="1.0" encoding="utf-8"?>
<p:tagLst xmlns:p="http://schemas.openxmlformats.org/presentationml/2006/main">
  <p:tag name="KSO_WM_DIAGRAM_VIRTUALLY_FRAME" val="{&quot;height&quot;:103.5,&quot;left&quot;:51,&quot;top&quot;:157.5,&quot;width&quot;:837}"/>
</p:tagLst>
</file>

<file path=ppt/tags/tag18.xml><?xml version="1.0" encoding="utf-8"?>
<p:tagLst xmlns:p="http://schemas.openxmlformats.org/presentationml/2006/main">
  <p:tag name="KSO_WM_DIAGRAM_VIRTUALLY_FRAME" val="{&quot;height&quot;:103.5,&quot;left&quot;:51,&quot;top&quot;:157.5,&quot;width&quot;:837}"/>
</p:tagLst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4649</Words>
  <Application>WPS 演示</Application>
  <PresentationFormat>Converted Presentation</PresentationFormat>
  <Paragraphs>494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2" baseType="lpstr">
      <vt:lpstr>Arial</vt:lpstr>
      <vt:lpstr>宋体</vt:lpstr>
      <vt:lpstr>Wingdings</vt:lpstr>
      <vt:lpstr>微软雅黑</vt:lpstr>
      <vt:lpstr>Consolas</vt:lpstr>
      <vt:lpstr>Arial Unicode MS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time时光X</cp:lastModifiedBy>
  <cp:revision>1</cp:revision>
  <dcterms:created xsi:type="dcterms:W3CDTF">2026-06-08T05:08:25Z</dcterms:created>
  <dcterms:modified xsi:type="dcterms:W3CDTF">2026-06-08T05:08:25Z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2D2E4A96478141B9A6655C7A8B63E6A3_12</vt:lpwstr>
  </property>
</Properties>
</file>
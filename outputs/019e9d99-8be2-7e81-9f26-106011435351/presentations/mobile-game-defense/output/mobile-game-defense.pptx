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71" r:id="rId3"/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0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4" Type="http://schemas.openxmlformats.org/officeDocument/2006/relationships/notesSlide" Target="../notesSlides/notesSlide11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0.xml"/><Relationship Id="rId11" Type="http://schemas.openxmlformats.org/officeDocument/2006/relationships/tags" Target="../tags/tag29.xml"/><Relationship Id="rId10" Type="http://schemas.openxmlformats.org/officeDocument/2006/relationships/tags" Target="../tags/tag28.xml"/><Relationship Id="rId1" Type="http://schemas.openxmlformats.org/officeDocument/2006/relationships/tags" Target="../tags/tag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tGPT Image 2026年6月8日 14_00_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-4318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答辩汇报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移动端 Roguelite 回合制游戏的设计与实现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6628130" y="2781300"/>
            <a:ext cx="4191000" cy="1791335"/>
          </a:xfrm>
          <a:prstGeom prst="roundRect">
            <a:avLst>
              <a:gd name="adj" fmla="val 2326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997065" y="2959100"/>
            <a:ext cx="3333750" cy="38100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57150" tIns="38100" rIns="57150" bIns="38100" anchor="t">
            <a:normAutofit fontScale="95719"/>
          </a:bodyPr>
          <a:lstStyle/>
          <a:p>
            <a:pPr algn="l">
              <a:defRPr sz="18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探索地图 + 回合战斗 + 遗物构筑</a:t>
            </a:r>
            <a:endParaRPr sz="18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997065" y="3416300"/>
            <a:ext cx="3333750" cy="8191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Tuanjie</a:t>
            </a:r>
            <a:r>
              <a:rPr lang="en-US"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1.8.4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数据驱动内容扩展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面向移动端的轻量回合体验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66750" y="1828800"/>
            <a:ext cx="1714500" cy="1066800"/>
          </a:xfrm>
          <a:prstGeom prst="roundRect">
            <a:avLst>
              <a:gd name="adj" fmla="val 7143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19150" y="2000250"/>
            <a:ext cx="1409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78889"/>
          </a:bodyPr>
          <a:lstStyle/>
          <a:p>
            <a:pPr algn="l">
              <a:def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400+</a:t>
            </a:r>
            <a:endParaRPr lang="en-US" sz="22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19150" y="2495550"/>
            <a:ext cx="1409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代码文件量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2619375" y="1828800"/>
            <a:ext cx="1714500" cy="1066800"/>
          </a:xfrm>
          <a:prstGeom prst="roundRect">
            <a:avLst>
              <a:gd name="adj" fmla="val 7143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2771775" y="2000250"/>
            <a:ext cx="1409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78889"/>
          </a:bodyPr>
          <a:lstStyle/>
          <a:p>
            <a:pPr algn="l">
              <a:def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40+</a:t>
            </a:r>
            <a:endParaRPr lang="en-US" sz="22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771775" y="2495550"/>
            <a:ext cx="1409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主要敌人目录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4572000" y="1828800"/>
            <a:ext cx="1714500" cy="1066800"/>
          </a:xfrm>
          <a:prstGeom prst="roundRect">
            <a:avLst>
              <a:gd name="adj" fmla="val 7143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724400" y="2000250"/>
            <a:ext cx="1409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78889"/>
          </a:bodyPr>
          <a:lstStyle/>
          <a:p>
            <a:pPr algn="l">
              <a:def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r>
              <a:rPr lang="en-US"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0+</a:t>
            </a:r>
            <a:endParaRPr lang="en-US" sz="22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724400" y="2495550"/>
            <a:ext cx="1409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测试脚本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42950" y="3429000"/>
            <a:ext cx="1238250" cy="323850"/>
          </a:xfrm>
          <a:prstGeom prst="roundRect">
            <a:avLst>
              <a:gd name="adj" fmla="val 23529"/>
            </a:avLst>
          </a:prstGeom>
          <a:solidFill>
            <a:srgbClr val="111827"/>
          </a:solidFill>
          <a:ln w="11430">
            <a:solidFill>
              <a:srgbClr val="F4C95D"/>
            </a:solidFill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19150" y="3486150"/>
            <a:ext cx="108585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ctr">
              <a:defRPr sz="10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Roguelite</a:t>
            </a:r>
            <a:endParaRPr sz="10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2152650" y="3429000"/>
            <a:ext cx="1333500" cy="323850"/>
          </a:xfrm>
          <a:prstGeom prst="roundRect">
            <a:avLst>
              <a:gd name="adj" fmla="val 23529"/>
            </a:avLst>
          </a:prstGeom>
          <a:solidFill>
            <a:srgbClr val="111827"/>
          </a:solidFill>
          <a:ln w="11430">
            <a:solidFill>
              <a:srgbClr val="58D7FF"/>
            </a:solidFill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228850" y="3486150"/>
            <a:ext cx="11811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ctr">
              <a:defRPr sz="10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Turn-Based</a:t>
            </a:r>
            <a:endParaRPr sz="10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3657600" y="3429000"/>
            <a:ext cx="1714500" cy="323850"/>
          </a:xfrm>
          <a:prstGeom prst="roundRect">
            <a:avLst>
              <a:gd name="adj" fmla="val 23529"/>
            </a:avLst>
          </a:prstGeom>
          <a:solidFill>
            <a:srgbClr val="111827"/>
          </a:solidFill>
          <a:ln w="11430">
            <a:solidFill>
              <a:srgbClr val="74D680"/>
            </a:solidFill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3733800" y="3486150"/>
            <a:ext cx="15621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ctr">
              <a:defRPr sz="10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ScriptableObject</a:t>
            </a:r>
            <a:endParaRPr sz="10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956425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背景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可反复游玩的短局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23900" y="1733550"/>
            <a:ext cx="2476500" cy="1428750"/>
          </a:xfrm>
          <a:prstGeom prst="roundRect">
            <a:avLst>
              <a:gd name="adj" fmla="val 5333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57250" y="1847850"/>
            <a:ext cx="2209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移动端场景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2133600"/>
            <a:ext cx="2209800" cy="9525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碎片时间、单局节奏短、反馈</a:t>
            </a:r>
            <a:r>
              <a:rPr lang="zh-CN"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</a:t>
            </a: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即时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733800" y="1733550"/>
            <a:ext cx="2857500" cy="1428750"/>
          </a:xfrm>
          <a:prstGeom prst="roundRect">
            <a:avLst>
              <a:gd name="adj" fmla="val 5333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867150" y="1847850"/>
            <a:ext cx="2590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Roguelite 构筑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867150" y="2133600"/>
            <a:ext cx="2590800" cy="9525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随机事件、遗物组合、敌人变化带来复玩价值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124700" y="1733550"/>
            <a:ext cx="3143250" cy="1428750"/>
          </a:xfrm>
          <a:prstGeom prst="roundRect">
            <a:avLst>
              <a:gd name="adj" fmla="val 5333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258050" y="1847850"/>
            <a:ext cx="2876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回合制策略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258050" y="2133600"/>
            <a:ext cx="2876550" cy="9525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技能选择和目标管理</a:t>
            </a:r>
            <a:r>
              <a:rPr lang="zh-CN"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可供</a:t>
            </a: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200400" y="2419350"/>
            <a:ext cx="53340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638550" y="237172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591300" y="2419350"/>
            <a:ext cx="53340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029450" y="23717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3476625" y="3857625"/>
            <a:ext cx="4667250" cy="1428750"/>
          </a:xfrm>
          <a:prstGeom prst="roundRect">
            <a:avLst>
              <a:gd name="adj" fmla="val 5333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752850" y="4040505"/>
            <a:ext cx="1524000" cy="2857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6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设计目标</a:t>
            </a:r>
            <a:endParaRPr sz="16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733800" y="4411980"/>
            <a:ext cx="4000500" cy="7048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95250" tIns="76200" rIns="95250" bIns="76200" anchor="t">
            <a:normAutofit fontScale="84795"/>
          </a:bodyPr>
          <a:lstStyle/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让玩家每一回合都有可见收益和风险判断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让内容通过数据资产持续扩展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让核心规则可测试、可复用、可定位问题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核心玩法闭环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核心闭环由探索选择、战斗验证和成长奖励三段驱动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647700" y="2000250"/>
            <a:ext cx="2095500" cy="1314450"/>
          </a:xfrm>
          <a:prstGeom prst="roundRect">
            <a:avLst>
              <a:gd name="adj" fmla="val 579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81050" y="2114550"/>
            <a:ext cx="1828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地图探索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81050" y="2400300"/>
            <a:ext cx="1828800" cy="8382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节点推进、事件选择、商店与奖励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238500" y="2000250"/>
            <a:ext cx="2476500" cy="1314450"/>
          </a:xfrm>
          <a:prstGeom prst="roundRect">
            <a:avLst>
              <a:gd name="adj" fmla="val 579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371850" y="2114550"/>
            <a:ext cx="2209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遭遇战斗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3371850" y="2400300"/>
            <a:ext cx="2209800" cy="8382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技能与目标决定收益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6210300" y="2000250"/>
            <a:ext cx="2381250" cy="1314450"/>
          </a:xfrm>
          <a:prstGeom prst="roundRect">
            <a:avLst>
              <a:gd name="adj" fmla="val 579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6343650" y="211455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结算掉落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343650" y="2400300"/>
            <a:ext cx="2114550" cy="8382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金币、遗物、武器与下一步路线资源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9086850" y="2000250"/>
            <a:ext cx="2190750" cy="1314450"/>
          </a:xfrm>
          <a:prstGeom prst="roundRect">
            <a:avLst>
              <a:gd name="adj" fmla="val 5797"/>
            </a:avLst>
          </a:prstGeom>
          <a:solidFill>
            <a:srgbClr val="182133"/>
          </a:solidFill>
          <a:ln w="11430">
            <a:solidFill>
              <a:srgbClr val="B69CFF"/>
            </a:solidFill>
          </a:ln>
        </p:spPr>
      </p:sp>
      <p:sp>
        <p:nvSpPr>
          <p:cNvPr id="18" name="矩形 17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9220200" y="2114550"/>
            <a:ext cx="19240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构筑变化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9220200" y="2400300"/>
            <a:ext cx="1924050" cy="8382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遗物和状态改变后续回合规则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2743200" y="2647950"/>
            <a:ext cx="49530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1" name="矩形 20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3143250" y="260032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2" name="矩形 21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5715000" y="2647950"/>
            <a:ext cx="49530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3" name="矩形 22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6115050" y="26003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4" name="矩形 23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8591550" y="2647950"/>
            <a:ext cx="495300" cy="28575"/>
          </a:xfrm>
          <a:prstGeom prst="rect">
            <a:avLst/>
          </a:prstGeom>
          <a:solidFill>
            <a:srgbClr val="74D680"/>
          </a:solidFill>
          <a:ln w="0">
            <a:solidFill>
              <a:srgbClr val="74D680"/>
            </a:solidFill>
          </a:ln>
        </p:spPr>
      </p:sp>
      <p:sp>
        <p:nvSpPr>
          <p:cNvPr id="25" name="矩形 24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8991600" y="2600325"/>
            <a:ext cx="114300" cy="114300"/>
          </a:xfrm>
          <a:prstGeom prst="rect">
            <a:avLst/>
          </a:prstGeom>
          <a:solidFill>
            <a:srgbClr val="74D680"/>
          </a:solidFill>
          <a:ln w="0">
            <a:solidFill>
              <a:srgbClr val="74D680"/>
            </a:solidFill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1123950" y="4267200"/>
            <a:ext cx="9906000" cy="685800"/>
          </a:xfrm>
          <a:prstGeom prst="roundRect">
            <a:avLst>
              <a:gd name="adj" fmla="val 11111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428750" y="4438650"/>
            <a:ext cx="9334500" cy="4000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57150" tIns="38100" rIns="57150" bIns="38100" anchor="ctr">
            <a:normAutofit/>
          </a:bodyPr>
          <a:lstStyle/>
          <a:p>
            <a:pPr algn="ctr">
              <a:defRPr sz="18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每一次战斗既是路线成本，也是构筑验证；每一个奖励又会改变下一轮战斗的决策空间。</a:t>
            </a:r>
            <a:endParaRPr sz="18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1524000" y="5286375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676400" y="5419725"/>
            <a:ext cx="18859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73333"/>
          </a:bodyPr>
          <a:lstStyle/>
          <a:p>
            <a:pPr algn="l">
              <a:defRPr sz="187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短局</a:t>
            </a:r>
            <a:endParaRPr sz="187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676400" y="5724525"/>
            <a:ext cx="1885950" cy="2286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97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适配移动端节奏</a:t>
            </a:r>
            <a:endParaRPr sz="97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991100" y="5286375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143500" y="5419725"/>
            <a:ext cx="18859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73333"/>
          </a:bodyPr>
          <a:lstStyle/>
          <a:p>
            <a:pPr algn="l">
              <a:defRPr sz="1875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</a:t>
            </a:r>
            <a:endParaRPr sz="1875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143500" y="5724525"/>
            <a:ext cx="1885950" cy="2286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97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提升复玩差异</a:t>
            </a:r>
            <a:endParaRPr sz="97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8458200" y="5286375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610600" y="5419725"/>
            <a:ext cx="18859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73333"/>
          </a:bodyPr>
          <a:lstStyle/>
          <a:p>
            <a:pPr algn="l">
              <a:defRPr sz="1875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可解释</a:t>
            </a:r>
            <a:endParaRPr sz="1875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8610600" y="5724525"/>
            <a:ext cx="1885950" cy="2286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97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回合策略透明</a:t>
            </a:r>
            <a:endParaRPr sz="97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总体架构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架构把场景表现、共享规则和数据资产拆开，降低迭代成本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647700" y="1733550"/>
            <a:ext cx="228600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1847850"/>
            <a:ext cx="2019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MapScene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2133600"/>
            <a:ext cx="201930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地图节点、事件弹窗、路线推进、教程引导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47700" y="3429000"/>
            <a:ext cx="228600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81050" y="3543300"/>
            <a:ext cx="2019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BattleScene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81050" y="3829050"/>
            <a:ext cx="201930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战斗控制器、表现桥接、按钮与目标选择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476750" y="2571750"/>
            <a:ext cx="2667000" cy="1295400"/>
          </a:xfrm>
          <a:prstGeom prst="roundRect">
            <a:avLst>
              <a:gd name="adj" fmla="val 5882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610100" y="2686050"/>
            <a:ext cx="2400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Shared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610100" y="2971800"/>
            <a:ext cx="2400300" cy="8191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骰子、状态、遗物、结算、伤害和召唤规则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8629650" y="17335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B69CFF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763000" y="184785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ScriptableObject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763000" y="2133600"/>
            <a:ext cx="211455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敌人、武器、遗物、教程和关卡数据定义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629650" y="342900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763000" y="354330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Assets/Data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763000" y="3829050"/>
            <a:ext cx="211455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内容资产目录，支撑横向扩展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2933700" y="2286000"/>
            <a:ext cx="154305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381500" y="223837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933700" y="3981450"/>
            <a:ext cx="154305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381500" y="39338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143750" y="3028950"/>
            <a:ext cx="1485900" cy="28575"/>
          </a:xfrm>
          <a:prstGeom prst="rect">
            <a:avLst/>
          </a:prstGeom>
          <a:solidFill>
            <a:srgbClr val="74D680"/>
          </a:solidFill>
          <a:ln w="0">
            <a:solidFill>
              <a:srgbClr val="74D680"/>
            </a:solidFill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534400" y="2981325"/>
            <a:ext cx="114300" cy="114300"/>
          </a:xfrm>
          <a:prstGeom prst="rect">
            <a:avLst/>
          </a:prstGeom>
          <a:solidFill>
            <a:srgbClr val="74D680"/>
          </a:solidFill>
          <a:ln w="0">
            <a:solidFill>
              <a:srgbClr val="74D680"/>
            </a:solidFill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57250" y="5403850"/>
            <a:ext cx="9906000" cy="304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90000"/>
          </a:bodyPr>
          <a:lstStyle/>
          <a:p>
            <a:pPr algn="l">
              <a:defRPr sz="150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核心原则：表现层只承接场景交互，规则层</a:t>
            </a:r>
            <a:r>
              <a:rPr lang="zh-CN" sz="150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包装</a:t>
            </a:r>
            <a:r>
              <a:rPr sz="150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可测试服务，内容层通过 SO 资产配置。</a:t>
            </a:r>
            <a:endParaRPr sz="150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地图探索系统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地图探索系统负责把随机内容组织成可选择的路线压力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666750" y="1695450"/>
            <a:ext cx="2286000" cy="1200150"/>
          </a:xfrm>
          <a:prstGeom prst="roundRect">
            <a:avLst>
              <a:gd name="adj" fmla="val 6349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00100" y="1809750"/>
            <a:ext cx="2019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节点生成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00100" y="2095500"/>
            <a:ext cx="2019300" cy="7239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战斗、事件、商店、奖励等节点类型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524250" y="1695450"/>
            <a:ext cx="2286000" cy="1200150"/>
          </a:xfrm>
          <a:prstGeom prst="roundRect">
            <a:avLst>
              <a:gd name="adj" fmla="val 6349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657600" y="1809750"/>
            <a:ext cx="2019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玩家选择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657600" y="2095500"/>
            <a:ext cx="2019300" cy="7239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路线推进与资源消耗形成分支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381750" y="1695450"/>
            <a:ext cx="2286000" cy="1200150"/>
          </a:xfrm>
          <a:prstGeom prst="roundRect">
            <a:avLst>
              <a:gd name="adj" fmla="val 6349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515100" y="1809750"/>
            <a:ext cx="2019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事件反馈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515100" y="2095500"/>
            <a:ext cx="2019300" cy="7239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弹窗、奖励、状态变动和场景切换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9239250" y="1695450"/>
            <a:ext cx="2095500" cy="1200150"/>
          </a:xfrm>
          <a:prstGeom prst="roundRect">
            <a:avLst>
              <a:gd name="adj" fmla="val 6349"/>
            </a:avLst>
          </a:prstGeom>
          <a:solidFill>
            <a:srgbClr val="182133"/>
          </a:solidFill>
          <a:ln w="11430">
            <a:solidFill>
              <a:srgbClr val="B69CFF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372600" y="1809750"/>
            <a:ext cx="1828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进入战斗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372600" y="2095500"/>
            <a:ext cx="1828800" cy="7239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将遭遇配置传递给 BattleScene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3429000" y="3467100"/>
            <a:ext cx="4762500" cy="1714500"/>
          </a:xfrm>
          <a:prstGeom prst="roundRect">
            <a:avLst>
              <a:gd name="adj" fmla="val 4444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676650" y="3695700"/>
            <a:ext cx="1428750" cy="2857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6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实现重点</a:t>
            </a:r>
            <a:endParaRPr sz="16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657600" y="4086225"/>
            <a:ext cx="4000500" cy="8191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地图教程独立服务，降低新手引导对地图流程的侵入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地图事件与经济奖励由数据和共享服务承接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回合战斗系统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回合战斗系统用阶段调度把规则计算和表现播放解耦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04850" y="1885950"/>
            <a:ext cx="209550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38200" y="2000250"/>
            <a:ext cx="1828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回合开始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38200" y="2286000"/>
            <a:ext cx="182880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状态结算、遗物触发、速度生成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295650" y="1885950"/>
            <a:ext cx="209550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429000" y="2000250"/>
            <a:ext cx="1828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行动收集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29000" y="2286000"/>
            <a:ext cx="182880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按钮、目标、技能与敌方意图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886450" y="1885950"/>
            <a:ext cx="209550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19800" y="2000250"/>
            <a:ext cx="1828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结果解析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019800" y="2286000"/>
            <a:ext cx="182880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命中、伤害、状态、召唤和死亡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8477250" y="1885950"/>
            <a:ext cx="209550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B69CFF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610600" y="2000250"/>
            <a:ext cx="1828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表现计划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610600" y="2286000"/>
            <a:ext cx="182880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动画、飘字、UI 刷新与收尾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800350" y="2457450"/>
            <a:ext cx="49530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200400" y="240982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391150" y="2457450"/>
            <a:ext cx="49530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791200" y="24098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981950" y="2457450"/>
            <a:ext cx="495300" cy="28575"/>
          </a:xfrm>
          <a:prstGeom prst="rect">
            <a:avLst/>
          </a:prstGeom>
          <a:solidFill>
            <a:srgbClr val="74D680"/>
          </a:solidFill>
          <a:ln w="0">
            <a:solidFill>
              <a:srgbClr val="74D680"/>
            </a:solidFill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8382000" y="2409825"/>
            <a:ext cx="114300" cy="114300"/>
          </a:xfrm>
          <a:prstGeom prst="rect">
            <a:avLst/>
          </a:prstGeom>
          <a:solidFill>
            <a:srgbClr val="74D680"/>
          </a:solidFill>
          <a:ln w="0">
            <a:solidFill>
              <a:srgbClr val="74D680"/>
            </a:solidFill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3122930" y="3764280"/>
            <a:ext cx="4476750" cy="1428750"/>
          </a:xfrm>
          <a:prstGeom prst="roundRect">
            <a:avLst>
              <a:gd name="adj" fmla="val 5333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3351530" y="3992880"/>
            <a:ext cx="2476500" cy="2857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6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战斗可维护性的来源</a:t>
            </a:r>
            <a:endParaRPr sz="16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3332480" y="4373880"/>
            <a:ext cx="3714750" cy="60960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95250" tIns="76200" rIns="95250" bIns="76200" anchor="t">
            <a:normAutofit fontScale="74074"/>
          </a:bodyPr>
          <a:lstStyle/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计算服务独立于 Unity 表现对象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阶段计划先生成，再由控制器播放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测试可以直接覆盖 Shared 规则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 速度骰 / 技能系统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技能系统把战斗选择转化为可计算的行动窗口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42950" y="1714500"/>
            <a:ext cx="219075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1828800"/>
            <a:ext cx="19240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基础速度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2114550"/>
            <a:ext cx="192405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角色、敌人和状态提供速度来源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695700" y="1714500"/>
            <a:ext cx="228600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829050" y="1828800"/>
            <a:ext cx="2019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骰子修正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829050" y="2114550"/>
            <a:ext cx="201930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遗物与状态改变骰子范围或点数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743700" y="1714500"/>
            <a:ext cx="2667000" cy="1123950"/>
          </a:xfrm>
          <a:prstGeom prst="roundRect">
            <a:avLst>
              <a:gd name="adj" fmla="val 6780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877050" y="1828800"/>
            <a:ext cx="2400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按钮可用性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877050" y="2114550"/>
            <a:ext cx="2400300" cy="647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能量、目标、速度按钮状态决定可行动作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933700" y="2266950"/>
            <a:ext cx="76200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600450" y="221932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981700" y="2266950"/>
            <a:ext cx="76200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648450" y="22193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838200" y="3714750"/>
            <a:ext cx="1714500" cy="952500"/>
          </a:xfrm>
          <a:prstGeom prst="roundRect">
            <a:avLst>
              <a:gd name="adj" fmla="val 8000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90600" y="3886200"/>
            <a:ext cx="1409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  <a:endParaRPr sz="22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90600" y="4267200"/>
            <a:ext cx="1409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武器目录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2857500" y="371475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3009900" y="3886200"/>
            <a:ext cx="16954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</a:t>
            </a:r>
            <a:endParaRPr sz="22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3009900" y="4267200"/>
            <a:ext cx="16954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武器 asset 文件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5162550" y="3714750"/>
            <a:ext cx="2286000" cy="952500"/>
          </a:xfrm>
          <a:prstGeom prst="roundRect">
            <a:avLst>
              <a:gd name="adj" fmla="val 8000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314950" y="3886200"/>
            <a:ext cx="19812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Dice</a:t>
            </a:r>
            <a:endParaRPr sz="22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314950" y="4267200"/>
            <a:ext cx="19812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规则服务独立测试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810500" y="3581400"/>
            <a:ext cx="3143250" cy="12382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技能通过目标和效果标签进入统一解析流程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遗物可以在骰子生成前后插入规则修改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 遗物与状态系统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遗物与状态系统是可扩展构筑的核心规则层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23900" y="1695450"/>
            <a:ext cx="1714500" cy="990600"/>
          </a:xfrm>
          <a:prstGeom prst="roundRect">
            <a:avLst>
              <a:gd name="adj" fmla="val 7692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1866900"/>
            <a:ext cx="1409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111</a:t>
            </a:r>
            <a:endParaRPr sz="22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2286000"/>
            <a:ext cx="1409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遗物目录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781300" y="1695450"/>
            <a:ext cx="2000250" cy="990600"/>
          </a:xfrm>
          <a:prstGeom prst="roundRect">
            <a:avLst>
              <a:gd name="adj" fmla="val 7692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933700" y="1866900"/>
            <a:ext cx="16954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115</a:t>
            </a:r>
            <a:endParaRPr sz="22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933700" y="2286000"/>
            <a:ext cx="16954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遗物 asset 文件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124450" y="1695450"/>
            <a:ext cx="2000250" cy="990600"/>
          </a:xfrm>
          <a:prstGeom prst="roundRect">
            <a:avLst>
              <a:gd name="adj" fmla="val 7692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276850" y="1866900"/>
            <a:ext cx="16954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Built-in</a:t>
            </a:r>
            <a:endParaRPr sz="22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276850" y="2286000"/>
            <a:ext cx="16954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效果注册表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42950" y="3333750"/>
            <a:ext cx="23812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76300" y="344805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触发时机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733800"/>
            <a:ext cx="21145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获得、战斗开始、回合开始、命中、死亡等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3676650" y="3333750"/>
            <a:ext cx="25717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810000" y="3448050"/>
            <a:ext cx="23050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效果实现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810000" y="3733800"/>
            <a:ext cx="23050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内置效果按领域拆分到多个 partial 文件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800850" y="3333750"/>
            <a:ext cx="29527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934200" y="3448050"/>
            <a:ext cx="26860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执行上下文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934200" y="3733800"/>
            <a:ext cx="26860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通过上下文访问战斗、地图、奖励和反馈接口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3124200" y="3905250"/>
            <a:ext cx="55245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3581400" y="385762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248400" y="3905250"/>
            <a:ext cx="55245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705600" y="38576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42950" y="4857750"/>
            <a:ext cx="1009650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核心不是让</a:t>
            </a:r>
            <a:r>
              <a:rPr lang="zh-CN"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每个遗物</a:t>
            </a: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效果接入统一生命周期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状态效果和遗物效果共享战斗上下文，便于组合和测试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 敌人与关卡数据设计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敌人与关卡内容采用数据驱动，减少新增内容的代码成本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666750" y="1695450"/>
            <a:ext cx="1762125" cy="1028700"/>
          </a:xfrm>
          <a:prstGeom prst="roundRect">
            <a:avLst>
              <a:gd name="adj" fmla="val 740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19150" y="1866900"/>
            <a:ext cx="1457325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37</a:t>
            </a:r>
            <a:endParaRPr sz="22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19150" y="2324100"/>
            <a:ext cx="1457325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主要敌人目录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714625" y="1695450"/>
            <a:ext cx="1952625" cy="1028700"/>
          </a:xfrm>
          <a:prstGeom prst="roundRect">
            <a:avLst>
              <a:gd name="adj" fmla="val 740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867025" y="1866900"/>
            <a:ext cx="1647825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191</a:t>
            </a:r>
            <a:endParaRPr sz="22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867025" y="2324100"/>
            <a:ext cx="1647825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敌人相关 asset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953000" y="1695450"/>
            <a:ext cx="1762125" cy="1028700"/>
          </a:xfrm>
          <a:prstGeom prst="roundRect">
            <a:avLst>
              <a:gd name="adj" fmla="val 740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105400" y="1866900"/>
            <a:ext cx="1457325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22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105400" y="2324100"/>
            <a:ext cx="1457325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敌人数据分区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42950" y="3333750"/>
            <a:ext cx="247650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76300" y="3448050"/>
            <a:ext cx="2209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Enemies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733800"/>
            <a:ext cx="220980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单个敌人的数值、技能和掉落配置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3714750" y="3333750"/>
            <a:ext cx="266700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848100" y="3448050"/>
            <a:ext cx="2400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EnemyGroup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848100" y="3733800"/>
            <a:ext cx="240030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Boss、Elite、Standard、事件遭遇组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877050" y="3333750"/>
            <a:ext cx="2381250" cy="1162050"/>
          </a:xfrm>
          <a:prstGeom prst="roundRect">
            <a:avLst>
              <a:gd name="adj" fmla="val 655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010400" y="344805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010400" y="3733800"/>
            <a:ext cx="2114550" cy="6858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敌方技能效果、描述和行为参数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2950" y="4905375"/>
            <a:ext cx="4762500" cy="8763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新增敌人时，优先扩展 SO 数据和技能配置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遭遇组把关卡节奏与单体敌人定义解耦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战斗启动器负责把 encounter 数据转为场景对象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 教程与新手引导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教程系统把新手引导拆成地图、主菜单和战斗三个上下文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81050" y="1809750"/>
            <a:ext cx="23812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14400" y="192405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主菜单引导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914400" y="2209800"/>
            <a:ext cx="21145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入口、按钮说明和首次流程提示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210050" y="1809750"/>
            <a:ext cx="23812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343400" y="1924050"/>
            <a:ext cx="21145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地图引导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343400" y="2209800"/>
            <a:ext cx="21145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节点选择、事件面板和商店流程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639050" y="1809750"/>
            <a:ext cx="266700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772400" y="1924050"/>
            <a:ext cx="24003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战斗引导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772400" y="2209800"/>
            <a:ext cx="240030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速度按钮、技能选择、目标与结算反馈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162300" y="2381250"/>
            <a:ext cx="1047750" cy="28575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114800" y="2333625"/>
            <a:ext cx="114300" cy="114300"/>
          </a:xfrm>
          <a:prstGeom prst="rect">
            <a:avLst/>
          </a:prstGeom>
          <a:solidFill>
            <a:srgbClr val="F4C95D"/>
          </a:solidFill>
          <a:ln w="0">
            <a:solidFill>
              <a:srgbClr val="F4C95D"/>
            </a:solidFill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591300" y="2381250"/>
            <a:ext cx="1047750" cy="28575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543800" y="2333625"/>
            <a:ext cx="114300" cy="114300"/>
          </a:xfrm>
          <a:prstGeom prst="rect">
            <a:avLst/>
          </a:prstGeom>
          <a:solidFill>
            <a:srgbClr val="58D7FF"/>
          </a:solidFill>
          <a:ln w="0">
            <a:solidFill>
              <a:srgbClr val="58D7FF"/>
            </a:solidFill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3619500" y="3724275"/>
            <a:ext cx="4381500" cy="1428750"/>
          </a:xfrm>
          <a:prstGeom prst="roundRect">
            <a:avLst>
              <a:gd name="adj" fmla="val 5333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848100" y="3952875"/>
            <a:ext cx="1238250" cy="2857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6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设计取舍</a:t>
            </a:r>
            <a:endParaRPr sz="16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829050" y="4333875"/>
            <a:ext cx="3619500" cy="66675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95250" tIns="76200" rIns="95250" bIns="76200" anchor="t">
            <a:normAutofit fontScale="83333"/>
          </a:bodyPr>
          <a:lstStyle/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教程逻辑不直接塞进核心战斗服务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高亮坐标工具处理不同 UI 层级的定位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战斗教程可通过 Definition SO 配置阶段</a:t>
            </a:r>
            <a:endParaRPr sz="13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 UI / 反馈 / 音频表现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与反馈层围绕战斗可读性服务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615440" y="1558925"/>
            <a:ext cx="3668801" cy="1519932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19" name="矩形 18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798880" y="1716159"/>
            <a:ext cx="3301921" cy="340674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战斗反馈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798880" y="2109245"/>
            <a:ext cx="3301921" cy="864789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伤害飘字、命中反馈、状态提示和镜头/特效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5939384" y="1558925"/>
            <a:ext cx="3668801" cy="1519932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22" name="矩形 2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122824" y="1716159"/>
            <a:ext cx="3301921" cy="340674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信息面板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122824" y="2109245"/>
            <a:ext cx="3301921" cy="864789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技能说明、敌方意图、速度按钮可见性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615440" y="3891234"/>
            <a:ext cx="3668801" cy="1519932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25" name="矩形 24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798880" y="4048469"/>
            <a:ext cx="3301921" cy="340674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音频与节奏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1798880" y="4441554"/>
            <a:ext cx="3301921" cy="864789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按钮、战斗结算、奖励获得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5939384" y="3891234"/>
            <a:ext cx="3668801" cy="1519932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B69CFF"/>
            </a:solidFill>
          </a:ln>
        </p:spPr>
      </p:sp>
      <p:sp>
        <p:nvSpPr>
          <p:cNvPr id="28" name="矩形 27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6122824" y="4048469"/>
            <a:ext cx="3301921" cy="340674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层级管理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6122824" y="4441554"/>
            <a:ext cx="3301921" cy="864789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HUD、弹窗和教程遮罩</a:t>
            </a:r>
            <a:r>
              <a:rPr lang="zh-CN"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排序策略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 工程质量与测试体系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测试体系覆盖核心规则，保证复杂效果迭代后仍可回归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62000" y="1714500"/>
            <a:ext cx="2190750" cy="1104900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14400" y="1885950"/>
            <a:ext cx="18859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194</a:t>
            </a:r>
            <a:endParaRPr sz="22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914400" y="2419350"/>
            <a:ext cx="18859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EditMode 测试脚本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333750" y="1714500"/>
            <a:ext cx="2095500" cy="1104900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486150" y="1885950"/>
            <a:ext cx="1790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22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86150" y="2419350"/>
            <a:ext cx="1790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PlayMode 测试脚本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810250" y="1714500"/>
            <a:ext cx="2381250" cy="1104900"/>
          </a:xfrm>
          <a:prstGeom prst="roundRect">
            <a:avLst>
              <a:gd name="adj" fmla="val 689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962650" y="1885950"/>
            <a:ext cx="20764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Rules</a:t>
            </a:r>
            <a:endParaRPr sz="22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962650" y="2419350"/>
            <a:ext cx="20764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Shared 服务优先测试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62000" y="3619500"/>
            <a:ext cx="25717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74D680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95350" y="3733800"/>
            <a:ext cx="23050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单元级规则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95350" y="4019550"/>
            <a:ext cx="23050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骰子、遗物、召唤、状态和奖励计算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3857625" y="3619500"/>
            <a:ext cx="25717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58D7FF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990975" y="3733800"/>
            <a:ext cx="230505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回归案例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990975" y="4019550"/>
            <a:ext cx="230505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把玩家反馈转成可复现测试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953250" y="3619500"/>
            <a:ext cx="285750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F4C95D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086600" y="3733800"/>
            <a:ext cx="2590800" cy="2476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3333"/>
          </a:bodyPr>
          <a:lstStyle/>
          <a:p>
            <a:pPr algn="l">
              <a:def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编辑器测试</a:t>
            </a:r>
            <a:endParaRPr sz="135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086600" y="4019550"/>
            <a:ext cx="2590800" cy="666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不依赖完整运行场景即可验证核心服务</a:t>
            </a:r>
            <a:endParaRPr sz="1050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62000" y="5095875"/>
            <a:ext cx="10001250" cy="5524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95250" tIns="76200" rIns="95250" bIns="76200" anchor="t">
            <a:normAutofit fontScale="92105" lnSpcReduction="10000"/>
          </a:bodyPr>
          <a:lstStyle/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测试分布</a:t>
            </a:r>
            <a:r>
              <a:rPr lang="zh-CN"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</a:t>
            </a: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表现层</a:t>
            </a:r>
            <a:r>
              <a:rPr lang="zh-CN"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规则层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新增修复会补充对应 EditMode 测试，降低同类问题反复出现</a:t>
            </a:r>
            <a:endParaRPr sz="1425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14350" y="247650"/>
            <a:ext cx="4762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 总结</a:t>
            </a:r>
            <a:endParaRPr sz="1125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76250" y="533400"/>
            <a:ext cx="10668000" cy="590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从玩法闭环到工程验证</a:t>
            </a:r>
            <a:endParaRPr sz="2400" b="1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76250" y="1162050"/>
            <a:ext cx="11239500" cy="17145"/>
          </a:xfrm>
          <a:prstGeom prst="rect">
            <a:avLst/>
          </a:prstGeom>
          <a:solidFill>
            <a:srgbClr val="34445F"/>
          </a:solidFill>
          <a:ln w="0">
            <a:solidFill>
              <a:srgbClr val="34445F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76250" y="6429375"/>
            <a:ext cx="7239000" cy="2095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9744"/>
          </a:bodyPr>
          <a:lstStyle/>
          <a:p>
            <a:pPr algn="l">
              <a:def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7F8A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 Roguelite Turn-Based Game · Unity / Tuanjie 2022.3</a:t>
            </a:r>
            <a:endParaRPr sz="975" b="0">
              <a:solidFill>
                <a:srgbClr val="7F8A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362700"/>
            <a:ext cx="571500" cy="2667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r">
              <a:def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120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838200" y="1695450"/>
            <a:ext cx="25717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90600" y="1866900"/>
            <a:ext cx="22669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4C95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闭环</a:t>
            </a:r>
            <a:endParaRPr sz="2250" b="1">
              <a:solidFill>
                <a:srgbClr val="F4C95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990600" y="2438400"/>
            <a:ext cx="22669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地图探索 → 战斗 → 奖励构筑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886200" y="1695450"/>
            <a:ext cx="285750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038600" y="1866900"/>
            <a:ext cx="255270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58D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</a:t>
            </a:r>
            <a:endParaRPr sz="2250" b="1">
              <a:solidFill>
                <a:srgbClr val="58D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038600" y="2438400"/>
            <a:ext cx="255270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场景表现 / 共享规则 / 数据资产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219950" y="1695450"/>
            <a:ext cx="2952750" cy="1143000"/>
          </a:xfrm>
          <a:prstGeom prst="roundRect">
            <a:avLst>
              <a:gd name="adj" fmla="val 6667"/>
            </a:avLst>
          </a:prstGeom>
          <a:solidFill>
            <a:srgbClr val="182133"/>
          </a:solidFill>
          <a:ln w="11430">
            <a:solidFill>
              <a:srgbClr val="34445F"/>
            </a:solidFill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372350" y="1866900"/>
            <a:ext cx="2647950" cy="38100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 fontScale="88889"/>
          </a:bodyPr>
          <a:lstStyle/>
          <a:p>
            <a:pPr algn="l">
              <a:def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74D6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质量</a:t>
            </a:r>
            <a:endParaRPr sz="2250" b="1">
              <a:solidFill>
                <a:srgbClr val="74D6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372350" y="2438400"/>
            <a:ext cx="2647950" cy="285750"/>
          </a:xfrm>
          <a:prstGeom prst="rect">
            <a:avLst/>
          </a:prstGeom>
          <a:solidFill>
            <a:srgbClr val="0F1420"/>
          </a:solidFill>
          <a:ln w="0">
            <a:solidFill>
              <a:srgbClr val="0F1420"/>
            </a:solidFill>
          </a:ln>
        </p:spPr>
        <p:txBody>
          <a:bodyPr wrap="square" lIns="57150" tIns="38100" rIns="57150" bIns="38100" anchor="t">
            <a:normAutofit/>
          </a:bodyPr>
          <a:lstStyle/>
          <a:p>
            <a:pPr algn="l">
              <a:def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AEB8C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194 个 EditMode 测试支撑回归</a:t>
            </a:r>
            <a:endParaRPr sz="1125" b="0">
              <a:solidFill>
                <a:srgbClr val="AEB8C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990600" y="3619500"/>
            <a:ext cx="9334500" cy="1276350"/>
          </a:xfrm>
          <a:prstGeom prst="roundRect">
            <a:avLst>
              <a:gd name="adj" fmla="val 5970"/>
            </a:avLst>
          </a:prstGeom>
          <a:solidFill>
            <a:srgbClr val="151E2D"/>
          </a:solidFill>
          <a:ln w="11430">
            <a:solidFill>
              <a:srgbClr val="34445F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314450" y="3905250"/>
            <a:ext cx="8667750" cy="685800"/>
          </a:xfrm>
          <a:prstGeom prst="rect">
            <a:avLst/>
          </a:prstGeom>
          <a:solidFill>
            <a:srgbClr val="151E2D"/>
          </a:solidFill>
          <a:ln w="0">
            <a:solidFill>
              <a:srgbClr val="151E2D"/>
            </a:solidFill>
          </a:ln>
        </p:spPr>
        <p:txBody>
          <a:bodyPr wrap="square" lIns="95250" tIns="76200" rIns="95250" bIns="76200" anchor="t">
            <a:normAutofit fontScale="70707"/>
          </a:bodyPr>
          <a:lstStyle/>
          <a:p>
            <a:pPr algn="l">
              <a:defRPr sz="16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完成移动端 Roguelite 回合制的核心系统实现</a:t>
            </a:r>
            <a:endParaRPr sz="16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通过 ScriptableObject 和 Assets/Data 建立可扩展内容管线</a:t>
            </a:r>
            <a:endParaRPr sz="16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F6F7F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问题攻关与测试补充</a:t>
            </a:r>
            <a:endParaRPr sz="1650" b="0">
              <a:solidFill>
                <a:srgbClr val="F6F7F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2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3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4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5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6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7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8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9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0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1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2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3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4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5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6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7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8.xml><?xml version="1.0" encoding="utf-8"?>
<p:tagLst xmlns:p="http://schemas.openxmlformats.org/presentationml/2006/main">
  <p:tag name="KSO_WM_DIAGRAM_VIRTUALLY_FRAME" val="{&quot;height&quot;:103.5,&quot;left&quot;:51,&quot;top&quot;:157.5,&quot;width&quot;:837}"/>
</p:tagLst>
</file>

<file path=ppt/tags/tag19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0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1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2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3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4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5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6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7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8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29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ags/tag30.xml><?xml version="1.0" encoding="utf-8"?>
<p:tagLst xmlns:p="http://schemas.openxmlformats.org/presentationml/2006/main">
  <p:tag name="KSO_WM_DIAGRAM_VIRTUALLY_FRAME" val="{&quot;height&quot;:352.4,&quot;left&quot;:127.2,&quot;top&quot;:122.75,&quot;width&quot;:629.8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2959</Words>
  <Application>WPS 演示</Application>
  <PresentationFormat>Converted Presentation</PresentationFormat>
  <Paragraphs>400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Consolas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time时光X</cp:lastModifiedBy>
  <cp:revision>4</cp:revision>
  <dcterms:created xsi:type="dcterms:W3CDTF">2026-06-08T05:08:00Z</dcterms:created>
  <dcterms:modified xsi:type="dcterms:W3CDTF">2026-06-08T07:20:24Z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2D2E4A96478141B9A6655C7A8B63E6A3_12</vt:lpwstr>
  </property>
</Properties>
</file>
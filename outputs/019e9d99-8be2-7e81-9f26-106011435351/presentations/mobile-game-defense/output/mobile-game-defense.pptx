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6cb2be7e654a4c" /><Relationship Type="http://schemas.openxmlformats.org/officeDocument/2006/relationships/extended-properties" Target="/docProps/app.xml" Id="Rc180202de9b14aab" /><Relationship Type="http://schemas.openxmlformats.org/officeDocument/2006/relationships/officeDocument" Target="/ppt/presentation.xml" Id="Ra6a6f3084b3442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f18bd374544eea"/>
  </p:sldMasterIdLst>
  <p:notesMasterIdLst>
    <p:notesMasterId xmlns:r="http://schemas.openxmlformats.org/officeDocument/2006/relationships" r:id="Rfc6412776ad24959"/>
  </p:notesMasterIdLst>
  <p:sldIdLst>
    <p:sldId xmlns:r="http://schemas.openxmlformats.org/officeDocument/2006/relationships" id="256" r:id="R25468e2de7874331"/>
    <p:sldId xmlns:r="http://schemas.openxmlformats.org/officeDocument/2006/relationships" id="257" r:id="R98b286ae8fd846e3"/>
    <p:sldId xmlns:r="http://schemas.openxmlformats.org/officeDocument/2006/relationships" id="258" r:id="R9ac400ce8fca41aa"/>
    <p:sldId xmlns:r="http://schemas.openxmlformats.org/officeDocument/2006/relationships" id="259" r:id="R55dbd005bdcd402d"/>
    <p:sldId xmlns:r="http://schemas.openxmlformats.org/officeDocument/2006/relationships" id="260" r:id="R93cf909378b24cb9"/>
    <p:sldId xmlns:r="http://schemas.openxmlformats.org/officeDocument/2006/relationships" id="261" r:id="R85535bc346f94266"/>
    <p:sldId xmlns:r="http://schemas.openxmlformats.org/officeDocument/2006/relationships" id="262" r:id="Reaa25e426cd54ea8"/>
    <p:sldId xmlns:r="http://schemas.openxmlformats.org/officeDocument/2006/relationships" id="263" r:id="R5e587cabeda14774"/>
    <p:sldId xmlns:r="http://schemas.openxmlformats.org/officeDocument/2006/relationships" id="264" r:id="Rfa63e1e1a5e7488d"/>
    <p:sldId xmlns:r="http://schemas.openxmlformats.org/officeDocument/2006/relationships" id="265" r:id="R3c7fdfd5f0f84d07"/>
    <p:sldId xmlns:r="http://schemas.openxmlformats.org/officeDocument/2006/relationships" id="266" r:id="Rdd4672b01253412d"/>
    <p:sldId xmlns:r="http://schemas.openxmlformats.org/officeDocument/2006/relationships" id="267" r:id="R9f73e8b9f3ef420c"/>
    <p:sldId xmlns:r="http://schemas.openxmlformats.org/officeDocument/2006/relationships" id="268" r:id="R97cec901f0414321"/>
    <p:sldId xmlns:r="http://schemas.openxmlformats.org/officeDocument/2006/relationships" id="269" r:id="R9fba0f565c1847e2"/>
    <p:sldId xmlns:r="http://schemas.openxmlformats.org/officeDocument/2006/relationships" id="270" r:id="Rfe82be97f2a540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ad76b9fdee43d0" /><Relationship Type="http://schemas.openxmlformats.org/officeDocument/2006/relationships/slideMaster" Target="/ppt/slideMasters/slideMaster1.xml" Id="Rbef18bd374544eea" /><Relationship Type="http://schemas.openxmlformats.org/officeDocument/2006/relationships/notesMaster" Target="/ppt/notesMasters/notesMaster1.xml" Id="Rfc6412776ad24959" /><Relationship Type="http://schemas.openxmlformats.org/officeDocument/2006/relationships/presProps" Target="/ppt/presProps.xml" Id="R854dd2e289904b5b" /><Relationship Type="http://schemas.openxmlformats.org/officeDocument/2006/relationships/viewProps" Target="/ppt/viewProps.xml" Id="R266c4282fd184de4" /><Relationship Type="http://schemas.openxmlformats.org/officeDocument/2006/relationships/tableStyles" Target="/ppt/tableStyles.xml" Id="R5a2855d441494c00" /><Relationship Type="http://schemas.openxmlformats.org/officeDocument/2006/relationships/slide" Target="/ppt/slides/slide1.xml" Id="R25468e2de7874331" /><Relationship Type="http://schemas.openxmlformats.org/officeDocument/2006/relationships/slide" Target="/ppt/slides/slide2.xml" Id="R98b286ae8fd846e3" /><Relationship Type="http://schemas.openxmlformats.org/officeDocument/2006/relationships/slide" Target="/ppt/slides/slide3.xml" Id="R9ac400ce8fca41aa" /><Relationship Type="http://schemas.openxmlformats.org/officeDocument/2006/relationships/slide" Target="/ppt/slides/slide4.xml" Id="R55dbd005bdcd402d" /><Relationship Type="http://schemas.openxmlformats.org/officeDocument/2006/relationships/slide" Target="/ppt/slides/slide5.xml" Id="R93cf909378b24cb9" /><Relationship Type="http://schemas.openxmlformats.org/officeDocument/2006/relationships/slide" Target="/ppt/slides/slide6.xml" Id="R85535bc346f94266" /><Relationship Type="http://schemas.openxmlformats.org/officeDocument/2006/relationships/slide" Target="/ppt/slides/slide7.xml" Id="Reaa25e426cd54ea8" /><Relationship Type="http://schemas.openxmlformats.org/officeDocument/2006/relationships/slide" Target="/ppt/slides/slide8.xml" Id="R5e587cabeda14774" /><Relationship Type="http://schemas.openxmlformats.org/officeDocument/2006/relationships/slide" Target="/ppt/slides/slide9.xml" Id="Rfa63e1e1a5e7488d" /><Relationship Type="http://schemas.openxmlformats.org/officeDocument/2006/relationships/slide" Target="/ppt/slides/slide10.xml" Id="R3c7fdfd5f0f84d07" /><Relationship Type="http://schemas.openxmlformats.org/officeDocument/2006/relationships/slide" Target="/ppt/slides/slide11.xml" Id="Rdd4672b01253412d" /><Relationship Type="http://schemas.openxmlformats.org/officeDocument/2006/relationships/slide" Target="/ppt/slides/slide12.xml" Id="R9f73e8b9f3ef420c" /><Relationship Type="http://schemas.openxmlformats.org/officeDocument/2006/relationships/slide" Target="/ppt/slides/slide13.xml" Id="R97cec901f0414321" /><Relationship Type="http://schemas.openxmlformats.org/officeDocument/2006/relationships/slide" Target="/ppt/slides/slide14.xml" Id="R9fba0f565c1847e2" /><Relationship Type="http://schemas.openxmlformats.org/officeDocument/2006/relationships/slide" Target="/ppt/slides/slide15.xml" Id="Rfe82be97f2a540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498b057ca048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14fc7aa81741c3" /><Relationship Type="http://schemas.openxmlformats.org/officeDocument/2006/relationships/notesMaster" Target="/ppt/notesMasters/notesMaster1.xml" Id="R9eb5941fe26d46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2cff20d7204eea" /><Relationship Type="http://schemas.openxmlformats.org/officeDocument/2006/relationships/notesMaster" Target="/ppt/notesMasters/notesMaster1.xml" Id="R5f433a6c893a43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5dc8d5e9ef4be8" /><Relationship Type="http://schemas.openxmlformats.org/officeDocument/2006/relationships/notesMaster" Target="/ppt/notesMasters/notesMaster1.xml" Id="R83a389f79eb24f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66aeb7b6944f64" /><Relationship Type="http://schemas.openxmlformats.org/officeDocument/2006/relationships/notesMaster" Target="/ppt/notesMasters/notesMaster1.xml" Id="R4dde9c93fab94c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1f89693ce34cbe" /><Relationship Type="http://schemas.openxmlformats.org/officeDocument/2006/relationships/notesMaster" Target="/ppt/notesMasters/notesMaster1.xml" Id="R7052e1657f4d48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336bb59988d409d" /><Relationship Type="http://schemas.openxmlformats.org/officeDocument/2006/relationships/notesMaster" Target="/ppt/notesMasters/notesMaster1.xml" Id="R13ed1c77447c4f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31a47d4b5245c3" /><Relationship Type="http://schemas.openxmlformats.org/officeDocument/2006/relationships/notesMaster" Target="/ppt/notesMasters/notesMaster1.xml" Id="R82c857938b034fb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34fe4cb0234fa4" /><Relationship Type="http://schemas.openxmlformats.org/officeDocument/2006/relationships/notesMaster" Target="/ppt/notesMasters/notesMaster1.xml" Id="R08913474707043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1e7faf7b364ecd" /><Relationship Type="http://schemas.openxmlformats.org/officeDocument/2006/relationships/notesMaster" Target="/ppt/notesMasters/notesMaster1.xml" Id="R48ff9c5a2bbd4f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2e8bb110724471" /><Relationship Type="http://schemas.openxmlformats.org/officeDocument/2006/relationships/notesMaster" Target="/ppt/notesMasters/notesMaster1.xml" Id="R76ac3cabe5d9479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41f175e31c248bb" /><Relationship Type="http://schemas.openxmlformats.org/officeDocument/2006/relationships/notesMaster" Target="/ppt/notesMasters/notesMaster1.xml" Id="R16af259494664d4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aa5fedb9b54da8" /><Relationship Type="http://schemas.openxmlformats.org/officeDocument/2006/relationships/notesMaster" Target="/ppt/notesMasters/notesMaster1.xml" Id="R27c6b1b1f807451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6b0b8c327bc48b9" /><Relationship Type="http://schemas.openxmlformats.org/officeDocument/2006/relationships/notesMaster" Target="/ppt/notesMasters/notesMaster1.xml" Id="Rc740dfd941564d8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9d951224df54b5b" /><Relationship Type="http://schemas.openxmlformats.org/officeDocument/2006/relationships/notesMaster" Target="/ppt/notesMasters/notesMaster1.xml" Id="R4831f2bcb40543c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c81b6defd754c5b" /><Relationship Type="http://schemas.openxmlformats.org/officeDocument/2006/relationships/notesMaster" Target="/ppt/notesMasters/notesMaster1.xml" Id="R8e1dd9617fdb42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ee7ab4b5da4b8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fce7405ff1450c" /><Relationship Type="http://schemas.openxmlformats.org/officeDocument/2006/relationships/slideLayout" Target="/ppt/slideLayouts/slideLayout1.xml" Id="R20302853337941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302853337941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cf0ff574554efe" /><Relationship Type="http://schemas.openxmlformats.org/officeDocument/2006/relationships/notesSlide" Target="/ppt/notesSlides/notesSlide1.xml" Id="Rb9c9d6b80f4144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4797a5b2d840d5" /><Relationship Type="http://schemas.openxmlformats.org/officeDocument/2006/relationships/notesSlide" Target="/ppt/notesSlides/notesSlide2.xml" Id="Rf600b33cc8e543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34b3f785334145" /><Relationship Type="http://schemas.openxmlformats.org/officeDocument/2006/relationships/notesSlide" Target="/ppt/notesSlides/notesSlide3.xml" Id="R4d75513331964ab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bae6a71da4826" /><Relationship Type="http://schemas.openxmlformats.org/officeDocument/2006/relationships/notesSlide" Target="/ppt/notesSlides/notesSlide4.xml" Id="R4f45dcb544ae4b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ecaf4679564370" /><Relationship Type="http://schemas.openxmlformats.org/officeDocument/2006/relationships/notesSlide" Target="/ppt/notesSlides/notesSlide5.xml" Id="R7a4d9cda3f1c45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991f9da9134130" /><Relationship Type="http://schemas.openxmlformats.org/officeDocument/2006/relationships/notesSlide" Target="/ppt/notesSlides/notesSlide6.xml" Id="R902c61929c1249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0dba6bc0cd4287" /><Relationship Type="http://schemas.openxmlformats.org/officeDocument/2006/relationships/notesSlide" Target="/ppt/notesSlides/notesSlide7.xml" Id="R068f538071284f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e2e5f4d8b4bfa" /><Relationship Type="http://schemas.openxmlformats.org/officeDocument/2006/relationships/notesSlide" Target="/ppt/notesSlides/notesSlide8.xml" Id="Rb26fd08fd9ed434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353267d0c4340" /><Relationship Type="http://schemas.openxmlformats.org/officeDocument/2006/relationships/notesSlide" Target="/ppt/notesSlides/notesSlide9.xml" Id="R5a1d590be76b40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94ec5741aa4e09" /><Relationship Type="http://schemas.openxmlformats.org/officeDocument/2006/relationships/notesSlide" Target="/ppt/notesSlides/notesSlide10.xml" Id="Ra944b93bdbd040e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d2c2f02c843cf" /><Relationship Type="http://schemas.openxmlformats.org/officeDocument/2006/relationships/notesSlide" Target="/ppt/notesSlides/notesSlide11.xml" Id="R67d34966dd414e6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0dac48536148c3" /><Relationship Type="http://schemas.openxmlformats.org/officeDocument/2006/relationships/notesSlide" Target="/ppt/notesSlides/notesSlide12.xml" Id="R4dd0a3ea67a64be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6c99e4855c4f55" /><Relationship Type="http://schemas.openxmlformats.org/officeDocument/2006/relationships/notesSlide" Target="/ppt/notesSlides/notesSlide13.xml" Id="R9c5b2272567c451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9055e37fc1425d" /><Relationship Type="http://schemas.openxmlformats.org/officeDocument/2006/relationships/notesSlide" Target="/ppt/notesSlides/notesSlide14.xml" Id="R10951f82c222422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9c8cdb67f4c08" /><Relationship Type="http://schemas.openxmlformats.org/officeDocument/2006/relationships/notesSlide" Target="/ppt/notesSlides/notesSlide15.xml" Id="R6f0248ed8837474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31EA64-CC8E-4DE0-9614-CA94F97E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C6FFC9-755D-4316-80DE-1D44069C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答辩汇报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A7C215-429F-4036-90A9-47CE6358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移动端 Roguelite 回合制游戏的设计与实现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7F5DC5-7E00-4157-8CC8-71468B2E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6251E5-D55F-4CCA-82A2-18383BA2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B10220-F429-4491-B6BA-744B9D18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BE1268-C504-4E20-A665-44FB8792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123950"/>
            <a:ext cx="4191000" cy="409575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151E2D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AF0978-284E-42AC-A6CD-8C9B3CAF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485900"/>
            <a:ext cx="17907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202B3F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A58266-E7BA-4049-92D8-3F76F501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752600"/>
            <a:ext cx="342900" cy="11811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6E5DD2-1DD3-445E-8872-05F337FC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647950"/>
            <a:ext cx="1009650" cy="2476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8B5A2B"/>
          </a:solidFill>
          <a:ln xmlns:a="http://schemas.openxmlformats.org/drawingml/2006/main" w="0">
            <a:solidFill>
              <a:srgbClr val="8B5A2B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6334A-763B-4921-9B7F-E4FF64C5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657350"/>
            <a:ext cx="228600" cy="13144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7A44A"/>
          </a:solidFill>
          <a:ln xmlns:a="http://schemas.openxmlformats.org/drawingml/2006/main" w="0">
            <a:solidFill>
              <a:srgbClr val="D7A44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CF7D38-E655-4227-8CEE-2D0957C7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28950"/>
            <a:ext cx="1028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B3F"/>
          </a:solidFill>
          <a:ln xmlns:a="http://schemas.openxmlformats.org/drawingml/2006/main" w="0">
            <a:solidFill>
              <a:srgbClr val="202B3F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武器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B098A0-569D-4638-8828-874618E3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57350"/>
            <a:ext cx="857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202B3F"/>
          </a:solidFill>
          <a:ln xmlns:a="http://schemas.openxmlformats.org/drawingml/2006/main" w="11430">
            <a:solidFill>
              <a:srgbClr val="FF7A7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AB0B89-4BC8-49E6-B010-2A256146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885950"/>
            <a:ext cx="590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B3F"/>
          </a:solidFill>
          <a:ln xmlns:a="http://schemas.openxmlformats.org/drawingml/2006/main" w="0">
            <a:solidFill>
              <a:srgbClr val="202B3F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73333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7A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7A72"/>
                </a:solidFill>
                <a:latin typeface="Microsoft YaHei"/>
                <a:ea typeface="Microsoft YaHei"/>
                <a:cs typeface="Microsoft YaHei"/>
              </a:rPr>
              <a:t>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2EE20A-FFAB-44F2-AAA1-E42EC90D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76550"/>
            <a:ext cx="857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202B3F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331B33-A1DA-4E4A-86BA-A7CFC4C0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105150"/>
            <a:ext cx="628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B3F"/>
          </a:solidFill>
          <a:ln xmlns:a="http://schemas.openxmlformats.org/drawingml/2006/main" w="0">
            <a:solidFill>
              <a:srgbClr val="202B3F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7302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rPr>
              <a:t>MAP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F93F68-2FD8-47FC-AFAA-176606F3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14750"/>
            <a:ext cx="3333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95719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探索地图 + 回合战斗 + 遗物构筑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DA4161-46D7-4F50-85EB-CB22E838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333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95250" tIns="76200" rIns="95250" bIns="762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Unity / Tuanjie 2022.3.62t6</a:t>
            </a:r>
          </a:p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数据驱动内容扩展</a:t>
            </a:r>
          </a:p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面向移动端的轻量回合体验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C1AD2F-0545-4136-87C5-2B4A7EAA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1714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3B4367-F6B6-4CA0-8657-19F5558D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1409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111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0FFE9C-0250-4D68-A250-29DFA3B1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95550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遗物数据资产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9BA266-8F19-4E9E-B5C0-64B1EE5E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28800"/>
            <a:ext cx="1714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FC0CEC-5B28-4C8C-9B26-7A151C2D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000250"/>
            <a:ext cx="1409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82E610-E205-41A6-B306-7CFE8B91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495550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主要敌人目录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54EBBA-0AC9-45F1-A846-B030D2E8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28800"/>
            <a:ext cx="1714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544FA0-2193-4ED6-AF3F-39F690D4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00250"/>
            <a:ext cx="1409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rPr>
              <a:t>194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EC6092-3D9A-4A30-A7C8-D5CDB3A1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95550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EditMode 测试脚本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30E5E2-E14B-4B8C-8840-1FB5194A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A40527-BC9E-4D2D-B18D-8E799831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86150"/>
            <a:ext cx="1085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Roguelite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1B9482-6BC1-45A4-A9FE-FF64706F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429000"/>
            <a:ext cx="1333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395216-A40C-43C7-B6B7-D0DC27C9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4861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rPr>
              <a:t>Turn-Based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081FD3-3BBB-4C0F-87D9-AB4A35AE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29000"/>
            <a:ext cx="1714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11430">
            <a:solidFill>
              <a:srgbClr val="74D680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4CEFEE-2867-443B-943B-906E67E0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486150"/>
            <a:ext cx="1562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rPr>
              <a:t>ScriptableObject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867D21-1680-4F80-8462-E5347FB3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5429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21A28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4AAE14-5A99-459F-AF48-073E1621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0050"/>
            <a:ext cx="512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Project evidence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B1A1A4F-B023-47EA-B382-50338C55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14850"/>
            <a:ext cx="5086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Assets/Scripts/MapScene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Assets/Scripts/BattleScene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Assets/Scripts/Shared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Assets/Scripts/ScriptableObject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Assets/Data/Relics · Enemies · Weapons</a:t>
            </a:r>
          </a:p>
        </p:txBody>
      </p:sp>
    </p:spTree>
    <p:extLst>
      <p:ext uri="{BB962C8B-B14F-4D97-AF65-F5344CB8AC3E}">
        <p14:creationId xmlns:p14="http://schemas.microsoft.com/office/powerpoint/2010/main" val="107827322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7B4C32-66AF-4832-8883-1B1984C4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F043FB-7C71-40FA-A556-D380DD71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01 选题背景与意义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26499E-15B7-4943-910E-45C652DD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选题价值在于把随机成长压缩成可反复游玩的移动端短局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25AC0A-12E7-4FAB-A5F2-65DBBF1D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7C09F-F5C0-4FEE-9469-8F6F2EC1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5C21C-8F67-4488-85B9-8562E171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F13BE1-8D40-4CBB-A8E9-39177615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2476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72252-36F5-47C4-AED1-3DB334ED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47850"/>
            <a:ext cx="2209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移动端场景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7199FA-0623-44F8-A198-28BDBF6D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33600"/>
            <a:ext cx="22098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碎片时间、单局节奏短、反馈要即时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887582-DB1C-40D7-B454-A76CB01E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33550"/>
            <a:ext cx="2857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7A5C5-8910-4977-866B-930F3B47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47850"/>
            <a:ext cx="2590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Roguelite 构筑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7B3237-9A6D-4A44-8C8B-6879D9D7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33600"/>
            <a:ext cx="25908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随机事件、遗物组合、敌人变化带来复玩价值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467877-C655-4F91-9915-F64253ED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33550"/>
            <a:ext cx="3143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74D68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120C79-C1AA-4C9E-9FA3-DF72395F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8478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回合制策略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BB23B5-EC30-4BCA-91F7-3DC5DD33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33600"/>
            <a:ext cx="2876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速度骰、技能选择和目标管理提供可解释决策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83E17-1EF4-4330-86E4-6CA2B56B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419350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B0DD2B-C4F1-4932-AD0D-5E6A1901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71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68D11A-C1AF-4EF7-8E58-97D5936A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19350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74C188-73C2-46AB-A338-655C8EEC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371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BC3BAD-3E86-4385-ACDE-78E81472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4667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1E2D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1BD850-F879-44A1-820D-86BF6C2A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576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设计目标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60810D-F6DD-45C6-9EC8-0A92C5A7D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29125"/>
            <a:ext cx="4000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95250" tIns="76200" rIns="95250" bIns="76200" anchor="t">
            <a:normAutofit fontScale="84795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让玩家每一回合都有可见收益和风险判断</a:t>
            </a:r>
          </a:p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让内容通过数据资产持续扩展</a:t>
            </a:r>
          </a:p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让核心规则可测试、可复用、可定位问题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C5D1AD-7B90-4286-8DC9-FEFDF73A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4762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1E2D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9AF243-BC25-43CA-9A1A-6038438D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576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rPr>
              <a:t>答辩关注点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11C61D-02FE-41BB-94DE-A8E88A98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29125"/>
            <a:ext cx="3905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95250" tIns="76200" rIns="95250" bIns="76200" anchor="t">
            <a:normAutofit fontScale="84795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玩法闭环是否完整</a:t>
            </a:r>
          </a:p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系统架构是否支撑扩展</a:t>
            </a:r>
          </a:p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工程质量是否能保障复杂规则稳定</a:t>
            </a:r>
          </a:p>
        </p:txBody>
      </p:sp>
    </p:spTree>
    <p:extLst>
      <p:ext uri="{BB962C8B-B14F-4D97-AF65-F5344CB8AC3E}">
        <p14:creationId xmlns:p14="http://schemas.microsoft.com/office/powerpoint/2010/main" val="13070854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110046-F704-4D98-AB96-99BBE875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EC0E63-0248-474C-B971-13EE1280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02 核心玩法闭环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8977E5-8D63-45FD-AA26-6D64E66F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核心闭环由探索选择、战斗验证和成长奖励三段驱动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CA38E6-EEAA-4E07-B3F3-451163EE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884EFF-5570-46E5-8DC7-995D4542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03B9AE-5F29-46F1-992E-9F14E945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4B5836-46F6-4738-8C3E-6D4D51A9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20955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B7C73E-0283-46F7-9766-B9842E94E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地图探索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0711AE-1ED7-4BA9-9A9B-68BDFA21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18288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节点推进、事件选择、商店与奖励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1DB00D-F927-465C-B6CB-D04A5C7A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00250"/>
            <a:ext cx="24765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3629EA-40D7-4431-ACFA-21C35CC6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114550"/>
            <a:ext cx="2209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遭遇战斗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822567-2B93-4DE7-B8BB-ABFB6750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00300"/>
            <a:ext cx="22098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速度骰生成行动窗口，技能与目标决定收益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70E02B-610B-47EA-8E95-377948D0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23812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74D68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4197D8-BEEB-4820-8BFB-DFF3D1AB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1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结算掉落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8F0214-A48C-43AD-BFC2-8223AA33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21145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金币、遗物、武器与下一步路线资源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6B288C-A810-4ABD-AC19-94470071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000250"/>
            <a:ext cx="21907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B69CF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C372B6-59DA-41F6-BFBF-4D3660F09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1455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构筑变化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62961F-5B28-4D78-9493-B580C863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00300"/>
            <a:ext cx="1924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遗物和状态改变后续回合规则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882358-160D-472E-B734-02C6463D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4795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041C08-BDDF-46E5-96F3-F57A1E6E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00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E3CC8B-8D50-477B-B563-3C0747EB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4795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545921-6901-413D-8802-06E9E614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00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F9E27F-FCC5-47CB-8B2F-73D430B5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4795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D680"/>
          </a:solidFill>
          <a:ln xmlns:a="http://schemas.openxmlformats.org/drawingml/2006/main" w="0">
            <a:solidFill>
              <a:srgbClr val="74D680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CA9279-6BB0-4352-89E9-03DC72FF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600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D680"/>
          </a:solidFill>
          <a:ln xmlns:a="http://schemas.openxmlformats.org/drawingml/2006/main" w="0">
            <a:solidFill>
              <a:srgbClr val="74D680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F034A0-58E5-4CC9-BCAB-97D66C97A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67200"/>
            <a:ext cx="9906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51E2D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D4D9FB-21AD-49B1-8082-CE9B8CB6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3865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每一次战斗既是路线成本，也是构筑验证；每一个奖励又会改变下一轮战斗的决策空间。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4260FC-EF54-4227-A7AE-012F1061B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86375"/>
            <a:ext cx="21907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0C716D-1A0C-4823-9D9A-848B712A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73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短局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B8C8B4-3CAB-4EF1-ADD8-F24227C2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724525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适配移动端节奏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A60F39-56AF-4BF5-AB28-5C73A081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286375"/>
            <a:ext cx="21907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449A17-FC9F-4088-988B-EECCE88D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419725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73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rPr>
              <a:t>随机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5032BE-2F63-4760-A801-84AD5B1D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724525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提升复玩差异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B70C6B-6DF5-4D62-8D0E-598E4B35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286375"/>
            <a:ext cx="21907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E84579-B3A6-43F8-A7B9-39D338A7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419725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73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rPr>
              <a:t>可解释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91CDB1-3393-4A80-9D24-BAC95CBF1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724525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回合策略透明</a:t>
            </a:r>
          </a:p>
        </p:txBody>
      </p:sp>
    </p:spTree>
    <p:extLst>
      <p:ext uri="{BB962C8B-B14F-4D97-AF65-F5344CB8AC3E}">
        <p14:creationId xmlns:p14="http://schemas.microsoft.com/office/powerpoint/2010/main" val="113909684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026267-D268-4467-890F-6AA6C42F6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A3FEE-0FFE-4D13-B661-441AAECE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03 系统总体架构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D2C72B-4D72-43AC-921D-1B466F46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架构把场景表现、共享规则和数据资产拆开，降低迭代成本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A067E6-85B5-426B-866C-30ED800B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D00799-D6C7-4912-8D15-F5D01278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B98051-739D-47B0-AFC9-DD8BB3DD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34887A-25D7-48DD-B983-0AFF7D7D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33550"/>
            <a:ext cx="2286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FF933C-22C5-44E3-A3B2-FEEDF89F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2019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MapScene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403D75-8807-42AA-A2B7-42EF1282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33600"/>
            <a:ext cx="2019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地图节点、事件弹窗、路线推进、教程引导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C36D60-1DB0-4C9F-A8A4-800ED5DC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0"/>
            <a:ext cx="2286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2C8020-A56D-4DC8-ACB7-03811180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2019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BattleScene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8E84B2-8494-4AEE-8707-34E06593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2019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战斗控制器、表现桥接、按钮与目标选择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D2621A-3B33-4B04-B6E3-3153A57A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266700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74D68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DE3D9E-C639-44B4-B355-7160C6CC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686050"/>
            <a:ext cx="2400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Shared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52F230-CD36-4097-B893-C627D1A2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71800"/>
            <a:ext cx="2400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骰子、状态、遗物、结算、伤害和召唤规则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E14B43-1E3B-4A05-B474-ED457F38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733550"/>
            <a:ext cx="2381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B69CF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760603-F3F7-4A68-ADC6-2E360786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47850"/>
            <a:ext cx="211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ScriptableObject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FAA077-E550-4A9D-84B0-47C5F001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33600"/>
            <a:ext cx="21145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敌人、武器、遗物、教程和关卡数据定义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75E7B2-AD5B-4CE1-B094-DBE25305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429000"/>
            <a:ext cx="2381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40558F-3800-4401-8246-02D499CC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43300"/>
            <a:ext cx="211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Assets/Data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556A63-8068-47A8-BE56-A651305C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29050"/>
            <a:ext cx="21145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内容资产目录，支撑横向扩展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9F1B0C-CE64-4AEA-9798-392AFB5A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286000"/>
            <a:ext cx="1543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2CAB28-9CEF-4806-AA25-9068676F9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38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0F0ABB-552D-42E7-AC5A-54ED95258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981450"/>
            <a:ext cx="1543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5DB643-F183-4833-86EF-3B12B464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163AF0-EA44-456B-8EA8-4D953D10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28950"/>
            <a:ext cx="148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D680"/>
          </a:solidFill>
          <a:ln xmlns:a="http://schemas.openxmlformats.org/drawingml/2006/main" w="0">
            <a:solidFill>
              <a:srgbClr val="74D680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73CD0D-9BEE-40F6-8FE5-327B7917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81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D680"/>
          </a:solidFill>
          <a:ln xmlns:a="http://schemas.openxmlformats.org/drawingml/2006/main" w="0">
            <a:solidFill>
              <a:srgbClr val="74D680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5E54ED-804D-42C7-A962-C69437CF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143500"/>
            <a:ext cx="9620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21A28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BCB5D7-F67B-46A9-B935-5CDDD011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5238750"/>
            <a:ext cx="931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Layering in repository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D62FC0-2C74-43E8-9FB1-7959DE0F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5543550"/>
            <a:ext cx="927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19050" tIns="19050" rIns="19050" bIns="19050" anchor="t">
            <a:normAutofit fontScale="45238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Assets/Scripts/MapScene        // exploration flow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Assets/Scripts/BattleScene     // presentation/controller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Assets/Scripts/Shared          // reusable combat rules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Assets/Scripts/ScriptableObject// data contracts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Assets/Data                    // authored content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EA9AD-AC04-4CDE-9821-B02920B7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05350"/>
            <a:ext cx="9906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核心原则：表现层只承接场景交互，规则层沉淀可测试服务，内容层通过 SO 资产配置。</a:t>
            </a:r>
          </a:p>
        </p:txBody>
      </p:sp>
    </p:spTree>
    <p:extLst>
      <p:ext uri="{BB962C8B-B14F-4D97-AF65-F5344CB8AC3E}">
        <p14:creationId xmlns:p14="http://schemas.microsoft.com/office/powerpoint/2010/main" val="20297179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4924A6-5BDE-4522-9EF9-7E84D7B2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636E51-F0F5-4E84-9D00-9E969B9C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04 地图探索系统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9EB19A-71F5-43B8-964C-906E5E5E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地图探索系统负责把随机内容组织成可选择的路线压力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45C959-3F46-4F99-B35A-4F97B1A3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DAE20-F13E-4508-8DED-00659691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7822D-1530-44E2-AA9F-1970A0682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F942FF-F02D-42C3-B41C-2EEFEA53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2286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69E54-32A7-4F20-97F7-DC2D5086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019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节点生成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3A0D43-9B47-40FE-AF67-C5FD223C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95500"/>
            <a:ext cx="2019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战斗、事件、商店、奖励等节点类型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791436-9143-4A2C-BF44-D351F38A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95450"/>
            <a:ext cx="2286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457C23-56FA-4D89-8511-9192F436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09750"/>
            <a:ext cx="2019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玩家选择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8A05B5-395E-42F6-A1D5-B7FB3DFC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95500"/>
            <a:ext cx="2019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路线推进与资源消耗形成分支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FD4292-13AE-4244-864E-C2B4B2FD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2286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74D68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C68721-0939-4204-A66F-498F34D8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09750"/>
            <a:ext cx="2019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事件反馈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485EE0-A1CB-4C50-B7F9-2F17AEBA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95500"/>
            <a:ext cx="2019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弹窗、奖励、状态变动和场景切换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E4352E-2BD1-43E4-AC55-D9138894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95450"/>
            <a:ext cx="2095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B69CF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1AC576-F1AE-4FA2-B94F-70A6195D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809750"/>
            <a:ext cx="1828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进入战斗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378141-8EE5-4123-A944-C7EB7101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095500"/>
            <a:ext cx="18288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将遭遇配置传递给 BattleScene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7A3804-A825-419F-8680-5963842C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4762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51E2D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388678-6673-4DB1-B809-812D08ED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实现重点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DFE809-537A-4DA8-8206-6B04094C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48125"/>
            <a:ext cx="400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95250" tIns="76200" rIns="95250" bIns="76200" anchor="t">
            <a:normAutofit fontScale="9440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事件面板需要高于 HUD 排序，避免遮挡关键选择</a:t>
            </a:r>
          </a:p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地图教程独立服务，降低新手引导对地图流程的侵入</a:t>
            </a:r>
          </a:p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地图事件与经济奖励由数据和共享服务承接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614137-5AE3-4F8F-9E52-E5F51B15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29000"/>
            <a:ext cx="4762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8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16E9C4-E705-46B4-ABD7-1B7D5A9A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24250"/>
            <a:ext cx="4457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MapScene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0608E9-4CB1-4BF7-BA34-C58E536F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29050"/>
            <a:ext cx="44196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MapEventOverlay.cs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MapTutorialFlowService.cs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MapTutorialGuideOverlay.cs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MapTutorialMerchantStockService.cs</a:t>
            </a:r>
          </a:p>
        </p:txBody>
      </p:sp>
    </p:spTree>
    <p:extLst>
      <p:ext uri="{BB962C8B-B14F-4D97-AF65-F5344CB8AC3E}">
        <p14:creationId xmlns:p14="http://schemas.microsoft.com/office/powerpoint/2010/main" val="67120481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53129D-D7BD-469A-8299-4DADE409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CAA84F-C576-4562-865D-BA3984D8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05 回合战斗系统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426986-40FC-4E0B-998C-B41F2E53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回合战斗系统用阶段调度把规则计算和表现播放解耦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5B5092-1747-4AAB-96FC-1985F6B1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6A9A6C-BBFA-4967-A0B0-921A6BFD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84749B-19D1-4D44-8482-EE533532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BE6111-9E4C-410C-B573-F8B36FE0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20955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48A35A-4F3F-41AE-BAC7-E7B34569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828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回合开始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0A25F0-DAF2-4D58-A799-F384A215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1828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状态结算、遗物触发、速度生成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B72751-1BAE-403D-B091-FD332FF6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885950"/>
            <a:ext cx="20955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11B8F-D5AA-4ACB-B70E-C2FE220F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1828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行动收集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2969B7-47EB-4566-81F1-44A684F4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86000"/>
            <a:ext cx="1828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按钮、目标、技能与敌方意图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0F32B4-8DD1-4F7D-BB5F-BD4705CC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885950"/>
            <a:ext cx="20955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74D68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DDF827-CA84-4E23-A1B4-99C4105A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00250"/>
            <a:ext cx="1828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结果解析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C31799-7C9D-41C5-93BF-BEE3B004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86000"/>
            <a:ext cx="1828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命中、伤害、状态、召唤和死亡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7F2023-4538-49FC-B9C9-81266A4E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85950"/>
            <a:ext cx="20955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B69CF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E968F9-0484-4A56-8153-74FF57E9D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00250"/>
            <a:ext cx="1828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表现计划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A0FB19-3D77-4A02-8BD5-587B25AB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86000"/>
            <a:ext cx="1828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动画、飘字、UI 刷新与收尾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D5D446-190E-437E-9A79-C71D67B0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45745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88A02C-367D-4F43-BB74-4C370B64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409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46D3A2-B9AA-405B-845F-08D948EC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5745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18FB61-B529-4E81-A322-EAB05420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09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EBBD5C-3E30-4970-AB76-3B77114D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D680"/>
          </a:solidFill>
          <a:ln xmlns:a="http://schemas.openxmlformats.org/drawingml/2006/main" w="0">
            <a:solidFill>
              <a:srgbClr val="74D680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A78E01-DD83-4A15-AC7B-2DB73F8A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09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D680"/>
          </a:solidFill>
          <a:ln xmlns:a="http://schemas.openxmlformats.org/drawingml/2006/main" w="0">
            <a:solidFill>
              <a:srgbClr val="74D680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5A38EB-1B1F-4EAE-8087-DE3E32CED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14750"/>
            <a:ext cx="4476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1E2D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438DF-BCF6-4995-AC1C-3068ADEB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43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rPr>
              <a:t>战斗可维护性的来源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3318C0-A9BD-4B61-9A30-2F80634E0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24350"/>
            <a:ext cx="3714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95250" tIns="76200" rIns="95250" bIns="76200" anchor="t">
            <a:normAutofit fontScale="7407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计算服务独立于 Unity 表现对象</a:t>
            </a:r>
          </a:p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阶段计划先生成，再由控制器播放</a:t>
            </a:r>
          </a:p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测试可以直接覆盖 Shared 规则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7A1EFA-A4FA-4D6F-8E7E-F7A2829B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714750"/>
            <a:ext cx="4953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21A28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3243BC-692B-4F98-B97B-CDBBE7EC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810000"/>
            <a:ext cx="464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Shared combat services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90465C-4DF3-4F02-8439-104EC894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14800"/>
            <a:ext cx="4610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BattleCombatActionCollectorService.cs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BattleCombatActionExecutionDispatcher.cs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BattleCombatPhaseCompletionPlanService.cs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BattleClashResultService.cs</a:t>
            </a:r>
          </a:p>
        </p:txBody>
      </p:sp>
    </p:spTree>
    <p:extLst>
      <p:ext uri="{BB962C8B-B14F-4D97-AF65-F5344CB8AC3E}">
        <p14:creationId xmlns:p14="http://schemas.microsoft.com/office/powerpoint/2010/main" val="184846529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FC244E-3729-4597-B5F5-84955250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F0571-AE26-4574-ABDA-0D740366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06 速度骰 / 技能系统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2E859-8E18-468E-BBE6-D8DEEC72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速度骰和技能系统把战斗选择转化为可计算的行动窗口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A4BE75-A03A-434F-8FA5-B8EB7C6E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5D07A4-3DAF-4703-B718-260895DC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0A9547-D6F8-402E-88AF-5F191228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FCF102-6240-4C3A-9007-FCF0847E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21907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E5A65F-0CF1-41D1-87E2-90107B0E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2880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基础速度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BF46C-E2B5-455F-9716-72FFDCB8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14550"/>
            <a:ext cx="1924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角色、敌人和状态提供速度来源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EBB5D7-315C-4B9E-A352-64393B05B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714500"/>
            <a:ext cx="2286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75532F-F370-46FC-8275-386B8AAE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828800"/>
            <a:ext cx="2019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骰子修正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01E3B3-FBE7-4CF1-9D48-6A8F3D89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114550"/>
            <a:ext cx="2019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遗物与状态改变骰子范围或点数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512AC4-1CF2-4C57-9576-4224611C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2667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74D68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C5259E-183C-4097-9226-141EC666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828800"/>
            <a:ext cx="2400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按钮可用性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D9B121-39AC-483C-9F7B-ED0611398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114550"/>
            <a:ext cx="2400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能量、目标、速度按钮状态决定可行动作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7E9F5C-C50B-429F-809D-965D743F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266950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C5AECC-0730-4871-A8EA-704679DD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1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46F8B0-7454-4496-9EBB-CFD029FF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266950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024F0B-913F-42A7-AA39-E70691A2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1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4BDEFA-6D29-406D-8CB1-E9ACE2E5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1EFEF-2039-403F-A9A4-0D922A11A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86200"/>
            <a:ext cx="1409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5F68B5-7CEF-47A6-BA36-145F9990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67200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武器目录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A4DB42-37D9-4150-B6BA-41BB5A13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200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60094F-FA68-4EA3-AD3E-A417856F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86200"/>
            <a:ext cx="1695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rPr>
              <a:t>89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F879CD-1BA4-4AE7-A002-0A4B2C71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267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武器 asset 文件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ED1FB6-918B-4F83-A489-A442AAA80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14750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742808-B3AE-41A7-861D-A937724A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886200"/>
            <a:ext cx="1981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rPr>
              <a:t>Dice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1E0DEC-5F42-474D-A5FB-43C19A24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267200"/>
            <a:ext cx="1981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规则服务独立测试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CFBC9B-F0C1-40E0-AD29-FCEE3926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81400"/>
            <a:ext cx="3143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95250" tIns="76200" rIns="95250" bIns="76200" anchor="t">
            <a:normAutofit fontScale="8812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速度不是单一数值，而是影响回合内行动槽位</a:t>
            </a:r>
          </a:p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技能通过目标和效果标签进入统一解析流程</a:t>
            </a:r>
          </a:p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遗物可以在骰子生成前后插入规则修改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35F20D-E8C5-4EF7-912A-6576B5BA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0"/>
            <a:ext cx="990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21A28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881FDE-B726-4A71-8227-673AEEC2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38750"/>
            <a:ext cx="9601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Dice / skill services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91D6C3-ADE9-4CB1-9E11-87415786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543550"/>
            <a:ext cx="956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19050" tIns="19050" rIns="19050" bIns="19050" anchor="t">
            <a:normAutofit fontScale="56548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BattleDiceRollService.cs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BattleDiceRangeModifierService.cs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BattleDicePowerPreparationService.cs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BattleAllySkillEnergyAvailabilityService.cs</a:t>
            </a:r>
          </a:p>
        </p:txBody>
      </p:sp>
    </p:spTree>
    <p:extLst>
      <p:ext uri="{BB962C8B-B14F-4D97-AF65-F5344CB8AC3E}">
        <p14:creationId xmlns:p14="http://schemas.microsoft.com/office/powerpoint/2010/main" val="187565294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2A3F53-ABFD-400C-9693-89647D65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05CD5D-787A-44F8-9606-8F91239B0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07 遗物与状态系统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2EF8A3-F428-4FB0-A0B3-67A76428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遗物与状态系统是可扩展构筑的核心规则层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02A082-EF98-48CD-B483-6F594A18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835DE1-7596-43B5-8FBB-123A42544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3D0D9F-ABF1-46BD-AA57-0933872B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53DB2-ED2D-4DDA-95ED-DFC95176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1714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FC489-9790-4793-8490-02BEEDCA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1409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111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0451E7-8D36-4851-B537-A15B41F4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40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遗物目录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6C2537-F2C7-4A27-A8D6-7AB16E15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95450"/>
            <a:ext cx="2000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477FF3-2EBC-4E5E-A285-4076924A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66900"/>
            <a:ext cx="1695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rPr>
              <a:t>115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36D9E8-194E-47F4-9338-C3F6EBA0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2860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遗物 asset 文件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E65ADE-E234-43BF-84D6-68FDD022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695450"/>
            <a:ext cx="2000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779B91-DDB3-44A5-BB77-5C616EFE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866900"/>
            <a:ext cx="1695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rPr>
              <a:t>Built-in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4394AC-EA8B-461B-B469-AC73B2C1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860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效果注册表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B812AE-1F52-4090-82E8-EFC15F4D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238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B03949-120F-4D9B-BA97-44F3B248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211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触发时机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1D52F4-15D2-40A1-AA3E-C2C93FB6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21145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获得、战斗开始、回合开始、命中、死亡等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F1FC97-DBDC-4477-ABD6-28A56F3E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333750"/>
            <a:ext cx="2571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3BC20C-2D77-4247-9111-C22C4D54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448050"/>
            <a:ext cx="2305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效果实现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585D9A-52A6-46F5-BCD3-81EDA68E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33800"/>
            <a:ext cx="2305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内置效果按领域拆分到多个 partial 文件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BC0D9E-45D2-444E-9936-0AD7E0F3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333750"/>
            <a:ext cx="2952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74D680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9E4CDB-3E5A-426F-A8A3-700E9980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48050"/>
            <a:ext cx="2686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执行上下文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E310F7-B9E2-4B65-A91B-4518CC4E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733800"/>
            <a:ext cx="2686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通过上下文访问战斗、地图、奖励和反馈接口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B685A2-53B5-4E70-A2DF-90B6713B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9052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19BD00-0A70-4976-9336-94C43F00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857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D6DB83-F80B-4D9C-BB34-0D9A342FF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052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C79A10-7BE8-41AD-AC17-D6D092A0C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EC4DC1-F1A8-48ED-97BE-CC6E98F5B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1009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95250" tIns="76200" rIns="95250" bIns="762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核心不是把每个遗物写死在场景里，而是让效果接入统一生命周期</a:t>
            </a:r>
          </a:p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状态效果和遗物效果共享战斗上下文，便于组合和测试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818F56-5AAF-4FC9-9CDB-7AF1F3AD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0965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8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476C60-BF4B-4924-BFE4-F4101484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15000"/>
            <a:ext cx="9791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Relic system 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AE2187-7B02-44A2-A1A0-465E5FCD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43600"/>
            <a:ext cx="975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19050" tIns="19050" rIns="19050" bIns="19050" anchor="t">
            <a:normAutofit fontScale="5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7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RelicSystem.BuiltInEffectRegistry.cs</a:t>
            </a:r>
          </a:p>
          <a:p xmlns:a="http://schemas.openxmlformats.org/drawingml/2006/main">
            <a:pPr algn="l">
              <a:defRPr sz="7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7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RelicSystem.BuiltInDiceEffects.cs</a:t>
            </a:r>
          </a:p>
          <a:p xmlns:a="http://schemas.openxmlformats.org/drawingml/2006/main">
            <a:pPr algn="l">
              <a:defRPr sz="7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7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RelicSystem.BuiltInStatusEffects.cs</a:t>
            </a:r>
          </a:p>
          <a:p xmlns:a="http://schemas.openxmlformats.org/drawingml/2006/main">
            <a:pPr algn="l">
              <a:defRPr sz="7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7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RelicSystem.BuiltInRoundStartStatueEffects.cs</a:t>
            </a:r>
          </a:p>
        </p:txBody>
      </p:sp>
    </p:spTree>
    <p:extLst>
      <p:ext uri="{BB962C8B-B14F-4D97-AF65-F5344CB8AC3E}">
        <p14:creationId xmlns:p14="http://schemas.microsoft.com/office/powerpoint/2010/main" val="207840510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705E0C-2869-4921-BAA9-A719DB4F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61D044-564B-40F5-816F-E1BB74FD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08 敌人与关卡数据设计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2ED9DA-BC7C-4D0B-B7AE-05255C29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敌人与关卡内容采用数据驱动，减少新增内容的代码成本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4FF25-58D9-449A-A0FF-A1466A79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05314-690F-4DA5-8B23-FBB2346A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607C9B-6BD0-4B19-B3BF-349392E6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A4CF19-7E55-4E94-94A7-F1DB9847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1762125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322C40-DF33-4983-A384-E9585D0A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14573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C53603-8706-4C35-8B00-38766B12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24100"/>
            <a:ext cx="14573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主要敌人目录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741687-57F8-4AF8-967D-8B46F25F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695450"/>
            <a:ext cx="1952625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75F637-90E6-4EBA-BB06-7FB4D28B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866900"/>
            <a:ext cx="16478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rPr>
              <a:t>191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AF16B3-DDBA-4EC7-A427-4F35B9A9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324100"/>
            <a:ext cx="16478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敌人相关 asset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AAADAA-2CBB-4906-994A-1AF84A2E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95450"/>
            <a:ext cx="1762125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019F53-99D0-493B-ADEE-F256D050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66900"/>
            <a:ext cx="14573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66E527-DFC9-430B-8262-9C7FD75A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24100"/>
            <a:ext cx="14573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敌人数据分区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4B7E44-C81F-4420-9DB7-5037B73C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24765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F7BC40-1221-4001-AC51-C932D526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2209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Enemies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A2289F-9055-4B28-9EB4-969D19D6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2209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单个敌人的数值、技能和掉落配置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95710C-F499-4983-837E-F5FE0FDE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333750"/>
            <a:ext cx="26670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3E124C-36EA-4FB4-B1B7-F6F082643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448050"/>
            <a:ext cx="2400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EnemyGroup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164E59-AB20-4E51-A80A-5C9751B1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2400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Boss、Elite、Standard、事件遭遇组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6D4607-ED0D-4564-9FC8-CBCC8C5C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3337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74D680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913FBF-C7BC-4D52-BE08-F3FE851E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448050"/>
            <a:ext cx="211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Skill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7C6837-A5C4-433F-AA98-EB67166F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33800"/>
            <a:ext cx="2114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敌方技能效果、描述和行为参数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7E088F-94EC-436A-8E7F-41BEDD00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05375"/>
            <a:ext cx="476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95250" tIns="76200" rIns="95250" bIns="762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新增敌人时，优先扩展 SO 数据和技能配置</a:t>
            </a:r>
          </a:p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遭遇组把关卡节奏与单体敌人定义解耦</a:t>
            </a:r>
          </a:p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战斗启动器负责把 encounter 数据转为场景对象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51D13F-86FF-46C9-95AF-C65D5056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05375"/>
            <a:ext cx="4762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8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4E19BD-93BA-4AC9-AB91-E1D52D5B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00625"/>
            <a:ext cx="4457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Enemy content evidence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843CE2-4308-4ADD-B06F-3E0EDFBF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05425"/>
            <a:ext cx="4419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19050" tIns="19050" rIns="19050" bIns="19050" anchor="t">
            <a:normAutofit fontScale="5059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Assets/Data/Enemies/Enemies/001 GreenSlime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Assets/Data/Enemies/Enemies/040 InterlockingPrismServants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Assets/Data/Enemies/EnemyGroup/Boss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BattleSceneEncounterBootstrap.cs</a:t>
            </a:r>
          </a:p>
        </p:txBody>
      </p:sp>
    </p:spTree>
    <p:extLst>
      <p:ext uri="{BB962C8B-B14F-4D97-AF65-F5344CB8AC3E}">
        <p14:creationId xmlns:p14="http://schemas.microsoft.com/office/powerpoint/2010/main" val="123465951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AB8A37-4FB7-4500-9AA4-102D29DA7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D2F206-7062-4820-9601-78945816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09 教程与新手引导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460A19-48E7-4274-8664-0326E366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教程系统把新手引导拆成地图、主菜单和战斗三个上下文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1E2A86-080B-417A-B145-6240513E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BB20A1-A975-4AB7-BCB8-317772BF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B260D1-EB80-4002-AE8D-C29BAFB0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20C56F-B25B-417C-8E85-BD4D1B5A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238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7358CE-5FCA-40A4-BE3C-6848CE9F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211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主菜单引导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FB1DD0-A223-4E40-923E-DC7F9F4F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21145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入口、按钮说明和首次流程提示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685757-18E3-474B-BEC2-12AA677C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809750"/>
            <a:ext cx="238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D759E-8B87-4525-BC86-73C17F46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924050"/>
            <a:ext cx="211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地图引导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0867F4-9E1C-472C-8DF4-6A079D5A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09800"/>
            <a:ext cx="21145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节点选择、事件面板和商店流程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C0BAAF-B8E5-48A1-B6C8-A6097816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09750"/>
            <a:ext cx="2667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74D68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68FE1D-C001-41EC-9E78-B8CF2FE69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924050"/>
            <a:ext cx="2400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战斗引导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A9CD3F-7F5B-40C6-9584-57B94A8C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209800"/>
            <a:ext cx="2400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速度按钮、技能选择、目标与结算反馈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0B1F60-CF31-49D1-BFFD-3B14CFEB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81250"/>
            <a:ext cx="1047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A29ED1-5E2F-4294-836A-B51561B5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333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FD6C6C-0D34-4ECB-8853-43529C3D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81250"/>
            <a:ext cx="1047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DABBBA-F168-4915-A041-E16F5BDA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33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F826CB-6C5A-40B6-8954-3C1E35C7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76650"/>
            <a:ext cx="4381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1E2D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1B0E83-5369-4AAF-AEA0-40A55976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1238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设计取舍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E11837-8B28-49CC-B262-E5F09ADF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3619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95250" tIns="76200" rIns="95250" bIns="762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教程逻辑不直接塞进核心战斗服务</a:t>
            </a:r>
          </a:p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高亮坐标工具处理不同 UI 层级的定位</a:t>
            </a:r>
          </a:p>
          <a:p xmlns:a="http://schemas.openxmlformats.org/drawingml/2006/main">
            <a:pPr algn="l">
              <a:def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战斗教程可通过 Definition SO 配置阶段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7DD18B-A843-47C8-9F3D-06E18D9A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76650"/>
            <a:ext cx="4762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21A28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FCA101-B4AE-46A8-A0C5-354D843FB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71900"/>
            <a:ext cx="4457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Tutorial evidence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C24D24-2D14-4049-8ED7-FB5E9272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076700"/>
            <a:ext cx="44196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MainMenuTutorialOverlay.cs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MapTutorialFlowService.cs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TutorialBattleDefinition_SO.cs</a:t>
            </a:r>
          </a:p>
          <a:p xmlns:a="http://schemas.openxmlformats.org/drawingml/2006/main">
            <a:pPr algn="l">
              <a:defRPr sz="10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TutorialHighlightCoordinateUtility.cs</a:t>
            </a:r>
          </a:p>
        </p:txBody>
      </p:sp>
    </p:spTree>
    <p:extLst>
      <p:ext uri="{BB962C8B-B14F-4D97-AF65-F5344CB8AC3E}">
        <p14:creationId xmlns:p14="http://schemas.microsoft.com/office/powerpoint/2010/main" val="65384477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CE7FB9-6BFC-4138-8382-49E81311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481F97-0F55-4618-9B5A-7776FC97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10 UI / 反馈 / 音频表现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FF3372-07B4-4FB0-AFD0-8DB0DEC7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UI 与反馈层围绕战斗可读性服务，而不是单纯堆特效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9823BB-D38D-4CF1-B5CA-3C51CFE8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AFC0C7-DE06-4B5E-A188-A665A515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6DA535-82B8-4958-A8BC-C10FFBBA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F21B83-D029-4EC1-AF58-0A93BA16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429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51E2D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18E3A9-C658-4193-B301-BFFFADB2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3009900" cy="16764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24344A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D56FF9-B97E-4035-A971-8A0078E4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3009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F43"/>
          </a:solidFill>
          <a:ln xmlns:a="http://schemas.openxmlformats.org/drawingml/2006/main" w="0">
            <a:solidFill>
              <a:srgbClr val="355F4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CABE9C-F83B-437A-9945-E21F175C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30099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654E"/>
          </a:solidFill>
          <a:ln xmlns:a="http://schemas.openxmlformats.org/drawingml/2006/main" w="0">
            <a:solidFill>
              <a:srgbClr val="6F654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B6FC89-486E-497D-AFD3-561E2774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A5FDC3-CC60-4045-A99C-FCA18FC1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743200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33D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CE3E57-0DB8-433C-9373-3D73C409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028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1622"/>
          </a:solidFill>
          <a:ln xmlns:a="http://schemas.openxmlformats.org/drawingml/2006/main" w="11430">
            <a:solidFill>
              <a:srgbClr val="FF7A7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7377D5-0BBD-4094-95A2-918217F8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152650"/>
            <a:ext cx="80010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F1420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A21EFA-E118-4CB7-9446-934EE415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181225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69444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Chapter 2-3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1D9E3F-B5B6-42B7-B6EA-E93859F4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6710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可读性优先的战斗 HUD 示意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43FDF3-1C69-4C28-8BA4-FE190D14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95450"/>
            <a:ext cx="2667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71F5EF-1C52-4302-A441-D4D63EB8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809750"/>
            <a:ext cx="2400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战斗反馈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C93197-C8D2-4425-AFCD-B1F554DE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95500"/>
            <a:ext cx="2400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伤害飘字、命中反馈、状态提示和镜头/特效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C12833-582E-48D4-86E4-5A374ABA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95450"/>
            <a:ext cx="2667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E0141A-5364-4A96-A138-2E62472A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2400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信息面板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D7BED7-DEDD-44E4-BB72-9289939F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95500"/>
            <a:ext cx="2400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技能说明、敌方意图、速度按钮可见性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73F340-D643-4A54-8303-BEC93CD4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90900"/>
            <a:ext cx="2667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74D680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6FBB79-768A-4739-A207-49C2D7F5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05200"/>
            <a:ext cx="2400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音频与节奏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5238E2-7479-4363-A757-6CE7466B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790950"/>
            <a:ext cx="2400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按钮、战斗结算、奖励获得增强回合确认感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A99121-3853-46F6-BBAD-C131C0CB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90900"/>
            <a:ext cx="2667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B69CFF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40A692-A786-485B-A750-87DF35C8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05200"/>
            <a:ext cx="2400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层级管理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DA13EF-ABBC-4252-964C-14D0633E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90950"/>
            <a:ext cx="2400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HUD、弹窗和教程遮罩需要明确排序策略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012459-E7F1-4A44-A630-9E131E9D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95250" tIns="76200" rIns="95250" bIns="76200" anchor="t">
            <a:normAutofit fontScale="96491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答辩重点：反馈要让玩家明白为什么发生，而不是只知道发生了什么</a:t>
            </a:r>
          </a:p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事件弹窗排序修复说明 UI 层级是移动端项目中真实的工程风险</a:t>
            </a:r>
          </a:p>
        </p:txBody>
      </p:sp>
    </p:spTree>
    <p:extLst>
      <p:ext uri="{BB962C8B-B14F-4D97-AF65-F5344CB8AC3E}">
        <p14:creationId xmlns:p14="http://schemas.microsoft.com/office/powerpoint/2010/main" val="119312648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C6F979-41DB-4843-944D-4A21C7DD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A8406B-6DF6-4E2B-998B-06330159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11 工程质量与测试体系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E3223C-43A7-43B3-9B17-8C706642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测试体系覆盖核心规则，保证复杂效果迭代后仍可回归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29C06F-499C-4E88-9795-B4B26DC87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DE1717-2252-4C2B-9FAA-30E57EBB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26F51-743F-49F5-B3C6-3779F63D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FADCD2-441C-43C3-9E29-315712FC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2190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ECC69F-B7C2-4E06-8DCE-D74130C8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5950"/>
            <a:ext cx="1885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rPr>
              <a:t>194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27E830-3812-4B16-BB4D-BCEC1C4C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EditMode 测试脚本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A98E01-8BD8-42C2-95A8-08A0D3C5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14500"/>
            <a:ext cx="2095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1C843A-5971-40F0-90BA-32176BDB8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85950"/>
            <a:ext cx="1790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4875BE-2657-4C84-81A1-EF7FFCB8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19350"/>
            <a:ext cx="1790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PlayMode 测试脚本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2617B8-FFF7-4689-B987-68C2C4CC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14500"/>
            <a:ext cx="2381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3F848F-F637-4CDA-8D80-5A6DE713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885950"/>
            <a:ext cx="2076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Rules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D4C91B-6595-42A3-8AB3-5FD05DAA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19350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Shared 服务优先测试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42DBDB-9264-402F-8533-94DFD0B0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2571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74D680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585A27-32E4-4DB1-9AAF-85D9452D8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305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单元级规则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5C2675-5A51-4FAC-9E45-996DDD89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9550"/>
            <a:ext cx="2305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骰子、遗物、召唤、状态和奖励计算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922184-FA4E-45DD-8D31-541696E5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619500"/>
            <a:ext cx="2571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6AD00E-921F-45F1-8580-89A2C09D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733800"/>
            <a:ext cx="2305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回归案例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1D30F2-B06A-4C98-9CFC-058B4884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4019550"/>
            <a:ext cx="2305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把玩家反馈转成可复现测试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765BB5-EC77-4B0F-A71E-6431AC82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19500"/>
            <a:ext cx="2857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1E7347-63E7-4F09-AD3D-23F8360C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33800"/>
            <a:ext cx="2590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编辑器测试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53F9E0-9D79-4143-AE7E-3F0AFAB0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19550"/>
            <a:ext cx="2590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不依赖完整运行场景即可验证核心服务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DA3C3A-5B9A-4BE8-8188-C98AADC8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1000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95250" tIns="76200" rIns="95250" bIns="76200" anchor="t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测试分布说明项目不是只完成表现层，而是沉淀了可验证规则层</a:t>
            </a:r>
          </a:p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新增修复会补充对应 EditMode 测试，降低同类问题反复出现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6AD162-BCDE-4702-BABB-F11854E8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00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21A28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215D35-0009-45A6-ACDA-82FEFD9C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969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Recent regression tests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876940-0A63-4A75-B835-198E8E4D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6086475"/>
            <a:ext cx="96583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A28"/>
          </a:solidFill>
          <a:ln xmlns:a="http://schemas.openxmlformats.org/drawingml/2006/main" w="0">
            <a:solidFill>
              <a:srgbClr val="121A28"/>
            </a:solidFill>
          </a:ln>
        </p:spPr>
        <p:txBody>
          <a:bodyPr xmlns:a="http://schemas.openxmlformats.org/drawingml/2006/main" wrap="square" lIns="19050" tIns="19050" rIns="19050" bIns="19050" anchor="t">
            <a:normAutofit fontScale="1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7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MapEventOverlayTests.cs</a:t>
            </a:r>
          </a:p>
          <a:p xmlns:a="http://schemas.openxmlformats.org/drawingml/2006/main">
            <a:pPr algn="l">
              <a:defRPr sz="7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7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BattleSummonEffectServiceTests.cs</a:t>
            </a:r>
          </a:p>
          <a:p xmlns:a="http://schemas.openxmlformats.org/drawingml/2006/main">
            <a:pPr algn="l">
              <a:defRPr sz="750" b="0">
                <a:solidFill>
                  <a:srgbClr val="DCE6F5"/>
                </a:solidFill>
                <a:latin typeface="Consolas"/>
                <a:ea typeface="Consolas"/>
                <a:cs typeface="Consolas"/>
              </a:defRPr>
            </a:pPr>
            <a:r>
              <a:rPr sz="750" b="0">
                <a:solidFill>
                  <a:srgbClr val="DCE6F5"/>
                </a:solidFill>
                <a:latin typeface="Consolas"/>
                <a:ea typeface="Consolas"/>
                <a:cs typeface="Consolas"/>
              </a:rPr>
              <a:t>RelicRoundStartSpeedStatusTests.cs</a:t>
            </a:r>
          </a:p>
        </p:txBody>
      </p:sp>
    </p:spTree>
    <p:extLst>
      <p:ext uri="{BB962C8B-B14F-4D97-AF65-F5344CB8AC3E}">
        <p14:creationId xmlns:p14="http://schemas.microsoft.com/office/powerpoint/2010/main" val="107710803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B122F6-73C7-4007-BFC7-B97BC185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CCFA0F-C66F-4BD2-A2FF-588D3A71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12 技术难点与问题攻关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FEF789-7C77-4485-92D3-4552D704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技术攻关的关键是把玩家现象还原到战斗时序和状态生命周期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FB3EB3-B601-42D1-9790-FA0E0304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253EDA-390C-4306-A0E6-BEE50C01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DC0677-92E0-4429-A048-BF81EC3E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A2A6D-F8F8-44A2-A7F2-7A400AA5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2286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F7A7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8CD283-055B-4C12-AFC0-7FDDAF99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47850"/>
            <a:ext cx="2019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玩家现象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31D997-0561-46ED-88EC-5A5E07CA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2019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遗物 009 偶发看起来没有触发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5CC666-D3BC-4E97-A199-04B57417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733550"/>
            <a:ext cx="2476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0BEED1-E48C-4CC9-8364-77A6A09A7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47850"/>
            <a:ext cx="2209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根因定位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4DB840-66E4-4336-9F31-0209DDED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133600"/>
            <a:ext cx="2209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回合开始状态消费早于遗物触发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C9F896-A124-4CDB-8EA4-D4E76FFC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2857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3878E2-5200-4860-AE07-E9DF419F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47850"/>
            <a:ext cx="2590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最小修复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E99947-0B22-4CE0-AC00-BBB67C33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33600"/>
            <a:ext cx="2590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调整急速状态生命周期，使其参与本回合速度生成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9B27EE-ED9D-487E-9F4F-238370E8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860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72"/>
          </a:solidFill>
          <a:ln xmlns:a="http://schemas.openxmlformats.org/drawingml/2006/main" w="0">
            <a:solidFill>
              <a:srgbClr val="FF7A72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B24E19-4D9E-4B7A-B50E-1D6CB599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38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72"/>
          </a:solidFill>
          <a:ln xmlns:a="http://schemas.openxmlformats.org/drawingml/2006/main" w="0">
            <a:solidFill>
              <a:srgbClr val="FF7A72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EB8AF2-0B43-4CCA-83DD-A98FBB50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28600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347367-9FD1-4126-848C-F0FD8E45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38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065408-93E5-4BEB-9EB9-1AA53E19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96202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51E2D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BEF1D2-E609-4B86-8788-EB529194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914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原流程：消费回合开始状态 → 触发回合开始遗物 → 生成速度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A87ED5-F760-44F4-84FE-646100F2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914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表现问题：刚加上的 Swiftness 来不及影响速度，回合后又被清掉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B2981E-7BC3-4958-AAD6-9EC10409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9334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95250" tIns="76200" rIns="95250" bIns="762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同时修复事件面板排序：Canvas sortingOrder 7990 → 9040</a:t>
            </a:r>
          </a:p>
          <a:p xmlns:a="http://schemas.openxmlformats.org/drawingml/2006/main">
            <a:pPr algn="l">
              <a:defRPr sz="150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修复敌人召唤重合：召唤位置服务避开已有敌人占位</a:t>
            </a:r>
          </a:p>
          <a:p xmlns:a="http://schemas.openxmlformats.org/drawingml/2006/main">
            <a:pPr algn="l">
              <a:defRPr sz="150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每个修复都补充 EditMode 回归测试</a:t>
            </a:r>
          </a:p>
        </p:txBody>
      </p:sp>
    </p:spTree>
    <p:extLst>
      <p:ext uri="{BB962C8B-B14F-4D97-AF65-F5344CB8AC3E}">
        <p14:creationId xmlns:p14="http://schemas.microsoft.com/office/powerpoint/2010/main" val="127854402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7B61E6-1644-4BDF-B24F-E6BE526CF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61E243-BA88-4AB3-AF7B-BC8CD11B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13 后续优化与扩展规划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E78707-0063-4B1C-83A6-3F39C649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后续优化会沿着内容规模、移动端体验和工具化三条线推进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2894FB-62BD-4126-BB6A-D1566AE6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748E93-B324-408F-9708-E5BE787C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93481D-08A1-4E60-87AE-C5238AFF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A66EAC-CB2B-48F7-B7B6-0D4A6802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2476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F4C95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A8EAAB-63FA-4993-805C-8A7E1AEB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47850"/>
            <a:ext cx="2209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内容扩展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8A8704-2B61-4494-991E-09E6239A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2209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补充敌人组、事件池、遗物联动和 Boss 机制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C3951-E146-4DA0-99C6-63F27948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33550"/>
            <a:ext cx="25717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58D7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5B11A-68F9-4F86-985F-8930F360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47850"/>
            <a:ext cx="2305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体验打磨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954CF7-F4D0-4E76-982E-B0913BD8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33600"/>
            <a:ext cx="23050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移动端触控、信息密度、性能与加载节奏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7A6BDE-A7B4-4E86-9FE7-2C1A461B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33550"/>
            <a:ext cx="2667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74D68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5B6CBC-ED0F-4618-960B-B33E0310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847850"/>
            <a:ext cx="2400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工具化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3C0B40-F7C1-4DE7-BDA9-4F48DCF4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33600"/>
            <a:ext cx="24003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关卡/遗物校验器、自动截图、平衡性报表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46D10E-2A58-4941-98A8-9E8A47F9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43150"/>
            <a:ext cx="857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EDE993-FFED-4EA3-9FEF-D80D50F8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95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5D"/>
          </a:solidFill>
          <a:ln xmlns:a="http://schemas.openxmlformats.org/drawingml/2006/main" w="0">
            <a:solidFill>
              <a:srgbClr val="F4C95D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C0351E-8D68-4F60-B0F2-11F87538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43150"/>
            <a:ext cx="857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B2C65C-A182-44A6-AD9F-3BA107CC9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95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D7FF"/>
          </a:solidFill>
          <a:ln xmlns:a="http://schemas.openxmlformats.org/drawingml/2006/main" w="0">
            <a:solidFill>
              <a:srgbClr val="58D7F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31FBDA-A750-4C77-A94D-CC8F7BDA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90950"/>
            <a:ext cx="94297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51E2D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DE41DE-E147-4549-AC21-A00D96A2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0050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优先级判断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8F6F62-AADE-4068-8DC4-730E9D91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00550"/>
            <a:ext cx="8191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95250" tIns="76200" rIns="95250" bIns="76200" anchor="t">
            <a:normAutofit fontScale="4386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先保障核心战斗规则稳定，再扩大内容池</a:t>
            </a:r>
          </a:p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先提升移动端可读性，再增加复杂机制</a:t>
            </a:r>
          </a:p>
          <a:p xmlns:a="http://schemas.openxmlformats.org/drawingml/2006/main">
            <a:pPr algn="l">
              <a:def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把重复人工检查沉淀为编辑器工具或测试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5FF00B-5906-4EDF-9252-6538A465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76875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规划目标：让项目从“可玩原型”继续走向“可长期迭代的移动端游戏工程”。</a:t>
            </a:r>
          </a:p>
        </p:txBody>
      </p:sp>
    </p:spTree>
    <p:extLst>
      <p:ext uri="{BB962C8B-B14F-4D97-AF65-F5344CB8AC3E}">
        <p14:creationId xmlns:p14="http://schemas.microsoft.com/office/powerpoint/2010/main" val="103675325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F5EDCF-9241-4548-9944-27BA3C7A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718E3D-7E62-4425-AA44-24B226A2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14 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D26A3E-E42D-40F6-9807-9A730419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项目完成了从玩法闭环到工程验证的完整落地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8DD4C6-53B2-4997-A35C-07A4670B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62050"/>
            <a:ext cx="11239500" cy="171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45F"/>
          </a:solidFill>
          <a:ln xmlns:a="http://schemas.openxmlformats.org/drawingml/2006/main" w="0">
            <a:solidFill>
              <a:srgbClr val="3444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849FD5-B448-46F8-8E71-443025C3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7F8AA1"/>
                </a:solidFill>
                <a:latin typeface="Microsoft YaHei"/>
                <a:ea typeface="Microsoft YaHei"/>
                <a:cs typeface="Microsoft YaHei"/>
              </a:rPr>
              <a:t>Mobile Roguelite Turn-Based Game · Unity / Tuanjie 2022.3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A94F3D-CDB9-4807-ACB9-FAF151BE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6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132389-A3AD-4A3E-ADF0-F5D65D39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2571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C3511-9467-4489-B70C-340CAF264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66900"/>
            <a:ext cx="2266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闭环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958193-FACB-40CD-9350-053136A3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38400"/>
            <a:ext cx="2266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地图探索 → 战斗 → 奖励构筑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882D19-7E95-452C-BD3C-3115F32F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695450"/>
            <a:ext cx="2857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D86FDF-EBF1-48E0-9620-0E0A2022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866900"/>
            <a:ext cx="2552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58D7FF"/>
                </a:solidFill>
                <a:latin typeface="Microsoft YaHei"/>
                <a:ea typeface="Microsoft YaHei"/>
                <a:cs typeface="Microsoft YaHei"/>
              </a:rPr>
              <a:t>架构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E0070D-3F1F-43AB-8740-20C90026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438400"/>
            <a:ext cx="2552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场景表现 / 共享规则 / 数据资产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08365E-28D6-4AB3-9973-EC71FC9C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95450"/>
            <a:ext cx="2952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82133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69265D-C6D9-4A05-9AEF-8AD4AD7D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866900"/>
            <a:ext cx="2647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74D680"/>
                </a:solidFill>
                <a:latin typeface="Microsoft YaHei"/>
                <a:ea typeface="Microsoft YaHei"/>
                <a:cs typeface="Microsoft YaHei"/>
              </a:rPr>
              <a:t>质量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B5BAB2-01B9-4D9C-95F1-3C1FE208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38400"/>
            <a:ext cx="2647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EB8C9"/>
                </a:solidFill>
                <a:latin typeface="Microsoft YaHei"/>
                <a:ea typeface="Microsoft YaHei"/>
                <a:cs typeface="Microsoft YaHei"/>
              </a:rPr>
              <a:t>194 个 EditMode 测试支撑回归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A321E2-8ED0-4BD5-81A4-7A72C416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9334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151E2D"/>
          </a:solidFill>
          <a:ln xmlns:a="http://schemas.openxmlformats.org/drawingml/2006/main" w="11430">
            <a:solidFill>
              <a:srgbClr val="34445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80B50A-EFF5-4535-9124-D87713F0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05250"/>
            <a:ext cx="8667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E2D"/>
          </a:solidFill>
          <a:ln xmlns:a="http://schemas.openxmlformats.org/drawingml/2006/main" w="0">
            <a:solidFill>
              <a:srgbClr val="151E2D"/>
            </a:solidFill>
          </a:ln>
        </p:spPr>
        <p:txBody>
          <a:bodyPr xmlns:a="http://schemas.openxmlformats.org/drawingml/2006/main" wrap="square" lIns="95250" tIns="76200" rIns="95250" bIns="76200" anchor="t">
            <a:normAutofit fontScale="70707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完成移动端 Roguelite 回合制的核心系统实现</a:t>
            </a:r>
          </a:p>
          <a:p xmlns:a="http://schemas.openxmlformats.org/drawingml/2006/main">
            <a:pPr algn="l">
              <a:defRPr sz="16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通过 ScriptableObject 和 Assets/Data 建立可扩展内容管线</a:t>
            </a:r>
          </a:p>
          <a:p xmlns:a="http://schemas.openxmlformats.org/drawingml/2006/main">
            <a:pPr algn="l">
              <a:defRPr sz="16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6F7FB"/>
                </a:solidFill>
                <a:latin typeface="Microsoft YaHei"/>
                <a:ea typeface="Microsoft YaHei"/>
                <a:cs typeface="Microsoft YaHei"/>
              </a:rPr>
              <a:t>· 通过问题攻关与测试补充，证明项目具备继续迭代的工程基础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D12326-EAB5-4371-8420-6240DE3E4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381625"/>
            <a:ext cx="533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420"/>
          </a:solidFill>
          <a:ln xmlns:a="http://schemas.openxmlformats.org/drawingml/2006/main" w="0">
            <a:solidFill>
              <a:srgbClr val="0F1420"/>
            </a:solidFill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4C95D"/>
                </a:solidFill>
                <a:latin typeface="Microsoft YaHei"/>
                <a:ea typeface="Microsoft YaHei"/>
                <a:cs typeface="Microsoft YaHei"/>
              </a:rPr>
              <a:t>谢谢老师，请批评指正</a:t>
            </a:r>
          </a:p>
        </p:txBody>
      </p:sp>
    </p:spTree>
    <p:extLst>
      <p:ext uri="{BB962C8B-B14F-4D97-AF65-F5344CB8AC3E}">
        <p14:creationId xmlns:p14="http://schemas.microsoft.com/office/powerpoint/2010/main" val="1062947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2026-06-08T01:29:49.6460000Z</dcterms:created>
  <dcterms:modified xsi:type="dcterms:W3CDTF">2026-06-08T01:29:49.6460000Z</dcterms:modified>
</coreProperties>
</file>